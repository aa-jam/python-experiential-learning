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46050" y="6390640"/>
            <a:ext cx="8832850" cy="309880"/>
          </a:xfrm>
          <a:custGeom>
            <a:avLst/>
            <a:gdLst/>
            <a:ahLst/>
            <a:cxnLst/>
            <a:rect l="l" t="t" r="r" b="b"/>
            <a:pathLst>
              <a:path w="8832850" h="309879">
                <a:moveTo>
                  <a:pt x="8832849" y="309880"/>
                </a:moveTo>
                <a:lnTo>
                  <a:pt x="0" y="309880"/>
                </a:lnTo>
                <a:lnTo>
                  <a:pt x="0" y="0"/>
                </a:lnTo>
                <a:lnTo>
                  <a:pt x="8832849" y="0"/>
                </a:lnTo>
                <a:lnTo>
                  <a:pt x="8832849" y="309880"/>
                </a:lnTo>
                <a:close/>
              </a:path>
            </a:pathLst>
          </a:custGeom>
          <a:solidFill>
            <a:srgbClr val="8BAB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52400" y="158750"/>
            <a:ext cx="8832850" cy="6546850"/>
          </a:xfrm>
          <a:custGeom>
            <a:avLst/>
            <a:gdLst/>
            <a:ahLst/>
            <a:cxnLst/>
            <a:rect l="l" t="t" r="r" b="b"/>
            <a:pathLst>
              <a:path w="8832850" h="6546850">
                <a:moveTo>
                  <a:pt x="4415788" y="6546849"/>
                </a:moveTo>
                <a:lnTo>
                  <a:pt x="0" y="6546849"/>
                </a:lnTo>
                <a:lnTo>
                  <a:pt x="0" y="0"/>
                </a:lnTo>
                <a:lnTo>
                  <a:pt x="8832849" y="0"/>
                </a:lnTo>
                <a:lnTo>
                  <a:pt x="8832849" y="6546849"/>
                </a:lnTo>
                <a:lnTo>
                  <a:pt x="4415788" y="6546849"/>
                </a:lnTo>
                <a:close/>
              </a:path>
            </a:pathLst>
          </a:custGeom>
          <a:ln w="9524">
            <a:solidFill>
              <a:srgbClr val="7897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72674" y="276454"/>
            <a:ext cx="6256020" cy="5067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11546" y="1427079"/>
            <a:ext cx="6519545" cy="33959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29537" y="265936"/>
            <a:ext cx="3870960" cy="1976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Times New Roman"/>
                <a:cs typeface="Times New Roman"/>
              </a:rPr>
              <a:t>Experiential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Learning </a:t>
            </a:r>
            <a:r>
              <a:rPr sz="3200" dirty="0">
                <a:latin typeface="Times New Roman"/>
                <a:cs typeface="Times New Roman"/>
              </a:rPr>
              <a:t>Project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30" dirty="0">
                <a:latin typeface="Times New Roman"/>
                <a:cs typeface="Times New Roman"/>
              </a:rPr>
              <a:t>Assessment-</a:t>
            </a:r>
            <a:r>
              <a:rPr sz="3200" spc="-50" dirty="0">
                <a:latin typeface="Times New Roman"/>
                <a:cs typeface="Times New Roman"/>
              </a:rPr>
              <a:t>I </a:t>
            </a:r>
            <a:r>
              <a:rPr sz="3200" spc="-25" dirty="0">
                <a:latin typeface="Times New Roman"/>
                <a:cs typeface="Times New Roman"/>
              </a:rPr>
              <a:t>on</a:t>
            </a:r>
            <a:endParaRPr sz="3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3200" dirty="0">
                <a:solidFill>
                  <a:srgbClr val="0000FF"/>
                </a:solidFill>
                <a:latin typeface="Times New Roman"/>
                <a:cs typeface="Times New Roman"/>
              </a:rPr>
              <a:t>“Tie</a:t>
            </a:r>
            <a:r>
              <a:rPr sz="3200" spc="-7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FF"/>
                </a:solidFill>
                <a:latin typeface="Times New Roman"/>
                <a:cs typeface="Times New Roman"/>
              </a:rPr>
              <a:t>Tac</a:t>
            </a:r>
            <a:r>
              <a:rPr sz="3200" spc="-7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FF"/>
                </a:solidFill>
                <a:latin typeface="Times New Roman"/>
                <a:cs typeface="Times New Roman"/>
              </a:rPr>
              <a:t>Toe</a:t>
            </a:r>
            <a:r>
              <a:rPr sz="3200" spc="-7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FF"/>
                </a:solidFill>
                <a:latin typeface="Times New Roman"/>
                <a:cs typeface="Times New Roman"/>
              </a:rPr>
              <a:t>Game.”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61473" y="2220721"/>
            <a:ext cx="6601459" cy="822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0000FF"/>
                </a:solidFill>
                <a:latin typeface="Times New Roman"/>
                <a:cs typeface="Times New Roman"/>
              </a:rPr>
              <a:t>under</a:t>
            </a:r>
            <a:r>
              <a:rPr sz="2800" b="1" spc="-7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00FF"/>
                </a:solidFill>
                <a:latin typeface="Times New Roman"/>
                <a:cs typeface="Times New Roman"/>
              </a:rPr>
              <a:t>the</a:t>
            </a:r>
            <a:r>
              <a:rPr sz="2800" b="1" spc="-7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course</a:t>
            </a:r>
            <a:endParaRPr sz="2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30"/>
              </a:spcBef>
            </a:pP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Python</a:t>
            </a:r>
            <a:r>
              <a:rPr sz="2400" b="1" spc="-7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Programming</a:t>
            </a:r>
            <a:r>
              <a:rPr sz="2400" b="1" spc="-7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Language</a:t>
            </a:r>
            <a:r>
              <a:rPr sz="2400" b="1" spc="-7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0000FF"/>
                </a:solidFill>
                <a:latin typeface="Times New Roman"/>
                <a:cs typeface="Times New Roman"/>
              </a:rPr>
              <a:t>(N-</a:t>
            </a:r>
            <a:r>
              <a:rPr sz="24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PCCCM304P)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8825" y="3297597"/>
            <a:ext cx="230187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Presented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By: </a:t>
            </a:r>
            <a:r>
              <a:rPr sz="2000" b="1" dirty="0">
                <a:latin typeface="Times New Roman"/>
                <a:cs typeface="Times New Roman"/>
              </a:rPr>
              <a:t>Aarushi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Jambhulkar [CM25001]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38575" y="3286617"/>
            <a:ext cx="1455565" cy="102441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896788" y="3278905"/>
            <a:ext cx="222377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7110" marR="5080" indent="-995044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Under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Guidance </a:t>
            </a:r>
            <a:r>
              <a:rPr sz="2000" b="1" spc="-25" dirty="0">
                <a:latin typeface="Times New Roman"/>
                <a:cs typeface="Times New Roman"/>
              </a:rPr>
              <a:t>of</a:t>
            </a:r>
            <a:endParaRPr sz="2000">
              <a:latin typeface="Times New Roman"/>
              <a:cs typeface="Times New Roman"/>
            </a:endParaRPr>
          </a:p>
          <a:p>
            <a:pPr marL="23495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Mrs.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Mayuri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Getme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05675" y="4648072"/>
            <a:ext cx="7548880" cy="1724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36165">
              <a:lnSpc>
                <a:spcPct val="100000"/>
              </a:lnSpc>
              <a:spcBef>
                <a:spcPts val="100"/>
              </a:spcBef>
            </a:pPr>
            <a:r>
              <a:rPr sz="2200" b="1" spc="-10" dirty="0">
                <a:latin typeface="Times New Roman"/>
                <a:cs typeface="Times New Roman"/>
              </a:rPr>
              <a:t>Session:2026-</a:t>
            </a:r>
            <a:r>
              <a:rPr sz="2200" b="1" dirty="0">
                <a:latin typeface="Times New Roman"/>
                <a:cs typeface="Times New Roman"/>
              </a:rPr>
              <a:t>27</a:t>
            </a:r>
            <a:r>
              <a:rPr sz="2200" b="1" spc="-5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(ODD</a:t>
            </a:r>
            <a:r>
              <a:rPr sz="2200" b="1" spc="-50" dirty="0">
                <a:latin typeface="Times New Roman"/>
                <a:cs typeface="Times New Roman"/>
              </a:rPr>
              <a:t> )</a:t>
            </a:r>
            <a:endParaRPr sz="2200">
              <a:latin typeface="Times New Roman"/>
              <a:cs typeface="Times New Roman"/>
            </a:endParaRPr>
          </a:p>
          <a:p>
            <a:pPr marL="2308860">
              <a:lnSpc>
                <a:spcPct val="100000"/>
              </a:lnSpc>
              <a:spcBef>
                <a:spcPts val="30"/>
              </a:spcBef>
            </a:pPr>
            <a:r>
              <a:rPr sz="1800" b="1" dirty="0">
                <a:latin typeface="Times New Roman"/>
                <a:cs typeface="Times New Roman"/>
              </a:rPr>
              <a:t>Department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of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CSE(AI&amp;ML)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2000" b="1" dirty="0">
                <a:latin typeface="Times New Roman"/>
                <a:cs typeface="Times New Roman"/>
              </a:rPr>
              <a:t>S.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B.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JAIN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INSTITUTE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TECHNOLOGY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MANAGEMENT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AND</a:t>
            </a:r>
            <a:endParaRPr sz="2000">
              <a:latin typeface="Times New Roman"/>
              <a:cs typeface="Times New Roman"/>
            </a:endParaRPr>
          </a:p>
          <a:p>
            <a:pPr marL="2286000">
              <a:lnSpc>
                <a:spcPct val="100000"/>
              </a:lnSpc>
              <a:spcBef>
                <a:spcPts val="409"/>
              </a:spcBef>
            </a:pPr>
            <a:r>
              <a:rPr sz="2000" b="1" spc="-10" dirty="0">
                <a:latin typeface="Times New Roman"/>
                <a:cs typeface="Times New Roman"/>
              </a:rPr>
              <a:t>RESEARCH,NAGPUR</a:t>
            </a:r>
            <a:endParaRPr sz="2000">
              <a:latin typeface="Times New Roman"/>
              <a:cs typeface="Times New Roman"/>
            </a:endParaRPr>
          </a:p>
          <a:p>
            <a:pPr marL="483870">
              <a:lnSpc>
                <a:spcPct val="100000"/>
              </a:lnSpc>
              <a:spcBef>
                <a:spcPts val="305"/>
              </a:spcBef>
            </a:pPr>
            <a:r>
              <a:rPr sz="2000" b="1" dirty="0">
                <a:latin typeface="Times New Roman"/>
                <a:cs typeface="Times New Roman"/>
              </a:rPr>
              <a:t>An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Autonomous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Institute,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Affiliated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RTMNU,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Nagpur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26544" y="6622160"/>
            <a:ext cx="850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4140" rIns="0" bIns="0" rtlCol="0">
            <a:spAutoFit/>
          </a:bodyPr>
          <a:lstStyle/>
          <a:p>
            <a:pPr marL="9779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Contents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1676" y="879219"/>
            <a:ext cx="6590030" cy="2052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3520" indent="-2108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23520" algn="l"/>
              </a:tabLst>
            </a:pPr>
            <a:r>
              <a:rPr sz="1900" dirty="0">
                <a:latin typeface="Calibri"/>
                <a:cs typeface="Calibri"/>
              </a:rPr>
              <a:t>Problem</a:t>
            </a:r>
            <a:r>
              <a:rPr sz="1900" spc="-10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statement</a:t>
            </a:r>
            <a:endParaRPr sz="1900">
              <a:latin typeface="Calibri"/>
              <a:cs typeface="Calibri"/>
            </a:endParaRPr>
          </a:p>
          <a:p>
            <a:pPr marL="223520" indent="-210820">
              <a:lnSpc>
                <a:spcPct val="100000"/>
              </a:lnSpc>
              <a:buFont typeface="Arial MT"/>
              <a:buChar char="•"/>
              <a:tabLst>
                <a:tab pos="223520" algn="l"/>
              </a:tabLst>
            </a:pPr>
            <a:r>
              <a:rPr sz="1900" spc="-10" dirty="0">
                <a:latin typeface="Calibri"/>
                <a:cs typeface="Calibri"/>
              </a:rPr>
              <a:t>Objectives</a:t>
            </a:r>
            <a:endParaRPr sz="1900">
              <a:latin typeface="Calibri"/>
              <a:cs typeface="Calibri"/>
            </a:endParaRPr>
          </a:p>
          <a:p>
            <a:pPr marL="223520" indent="-210820">
              <a:lnSpc>
                <a:spcPct val="100000"/>
              </a:lnSpc>
              <a:buFont typeface="Arial MT"/>
              <a:buChar char="•"/>
              <a:tabLst>
                <a:tab pos="223520" algn="l"/>
              </a:tabLst>
            </a:pPr>
            <a:r>
              <a:rPr sz="1900" spc="-10" dirty="0">
                <a:latin typeface="Calibri"/>
                <a:cs typeface="Calibri"/>
              </a:rPr>
              <a:t>Algorithm</a:t>
            </a:r>
            <a:endParaRPr sz="1900">
              <a:latin typeface="Calibri"/>
              <a:cs typeface="Calibri"/>
            </a:endParaRPr>
          </a:p>
          <a:p>
            <a:pPr marL="223520" indent="-210820">
              <a:lnSpc>
                <a:spcPct val="100000"/>
              </a:lnSpc>
              <a:buFont typeface="Arial MT"/>
              <a:buChar char="•"/>
              <a:tabLst>
                <a:tab pos="223520" algn="l"/>
              </a:tabLst>
            </a:pPr>
            <a:r>
              <a:rPr sz="1900" spc="-10" dirty="0">
                <a:latin typeface="Calibri"/>
                <a:cs typeface="Calibri"/>
              </a:rPr>
              <a:t>Flowchart/pseudocode</a:t>
            </a:r>
            <a:endParaRPr sz="1900">
              <a:latin typeface="Calibri"/>
              <a:cs typeface="Calibri"/>
            </a:endParaRPr>
          </a:p>
          <a:p>
            <a:pPr marL="223520" indent="-210820">
              <a:lnSpc>
                <a:spcPct val="100000"/>
              </a:lnSpc>
              <a:buFont typeface="Arial MT"/>
              <a:buChar char="•"/>
              <a:tabLst>
                <a:tab pos="223520" algn="l"/>
              </a:tabLst>
            </a:pPr>
            <a:r>
              <a:rPr sz="1900" spc="-10" dirty="0">
                <a:latin typeface="Calibri"/>
                <a:cs typeface="Calibri"/>
              </a:rPr>
              <a:t>Understanding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Python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logic</a:t>
            </a:r>
            <a:endParaRPr sz="1900">
              <a:latin typeface="Calibri"/>
              <a:cs typeface="Calibri"/>
            </a:endParaRPr>
          </a:p>
          <a:p>
            <a:pPr marL="223520" marR="5080" indent="-210820">
              <a:lnSpc>
                <a:spcPct val="100000"/>
              </a:lnSpc>
              <a:buFont typeface="Arial MT"/>
              <a:buChar char="•"/>
              <a:tabLst>
                <a:tab pos="421005" algn="l"/>
              </a:tabLst>
            </a:pPr>
            <a:r>
              <a:rPr sz="1900" dirty="0">
                <a:latin typeface="Calibri"/>
                <a:cs typeface="Calibri"/>
              </a:rPr>
              <a:t>GitHub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account,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repository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creation,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uploading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code,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meaningful 	</a:t>
            </a:r>
            <a:r>
              <a:rPr sz="1900" dirty="0">
                <a:latin typeface="Calibri"/>
                <a:cs typeface="Calibri"/>
              </a:rPr>
              <a:t>commits,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collaboration,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individual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contribution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2270" y="6361677"/>
            <a:ext cx="3479165" cy="460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8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S.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B.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Jain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Institute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Technology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Management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 and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research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41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1.</a:t>
            </a:r>
            <a:r>
              <a:rPr spc="-35" dirty="0"/>
              <a:t> </a:t>
            </a:r>
            <a:r>
              <a:rPr dirty="0"/>
              <a:t>Problem</a:t>
            </a:r>
            <a:r>
              <a:rPr spc="-35" dirty="0"/>
              <a:t> </a:t>
            </a:r>
            <a:r>
              <a:rPr spc="-10" dirty="0"/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11735" y="1204803"/>
            <a:ext cx="6404610" cy="3728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8135" marR="151130" indent="-306070">
              <a:lnSpc>
                <a:spcPct val="100000"/>
              </a:lnSpc>
              <a:spcBef>
                <a:spcPts val="100"/>
              </a:spcBef>
              <a:buFont typeface="Lucida Sans Unicode"/>
              <a:buChar char="□"/>
              <a:tabLst>
                <a:tab pos="318135" algn="l"/>
              </a:tabLst>
            </a:pP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Traditional</a:t>
            </a:r>
            <a:r>
              <a:rPr sz="1600" spc="-1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Tic</a:t>
            </a:r>
            <a:r>
              <a:rPr sz="1600" spc="-1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Tac</a:t>
            </a:r>
            <a:r>
              <a:rPr sz="1600" spc="-1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Toe</a:t>
            </a:r>
            <a:r>
              <a:rPr sz="1600" spc="-1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requires</a:t>
            </a:r>
            <a:r>
              <a:rPr sz="1600" spc="-1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a</a:t>
            </a:r>
            <a:r>
              <a:rPr sz="1600" spc="-1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clear</a:t>
            </a:r>
            <a:r>
              <a:rPr sz="1600" spc="-1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board</a:t>
            </a:r>
            <a:r>
              <a:rPr sz="1600" spc="-1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and</a:t>
            </a:r>
            <a:r>
              <a:rPr sz="1600" spc="-1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232323"/>
                </a:solidFill>
                <a:latin typeface="Arial MT"/>
                <a:cs typeface="Arial MT"/>
              </a:rPr>
              <a:t>rule-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based</a:t>
            </a:r>
            <a:r>
              <a:rPr sz="1600" spc="-1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turn </a:t>
            </a:r>
            <a:r>
              <a:rPr sz="1600" spc="-10" dirty="0">
                <a:solidFill>
                  <a:srgbClr val="232323"/>
                </a:solidFill>
                <a:latin typeface="Arial MT"/>
                <a:cs typeface="Arial MT"/>
              </a:rPr>
              <a:t>management.</a:t>
            </a:r>
            <a:endParaRPr sz="1600">
              <a:latin typeface="Arial MT"/>
              <a:cs typeface="Arial MT"/>
            </a:endParaRPr>
          </a:p>
          <a:p>
            <a:pPr marL="318135" marR="5080" indent="-306070">
              <a:lnSpc>
                <a:spcPct val="100000"/>
              </a:lnSpc>
              <a:spcBef>
                <a:spcPts val="700"/>
              </a:spcBef>
              <a:buFont typeface="Lucida Sans Unicode"/>
              <a:buChar char="□"/>
              <a:tabLst>
                <a:tab pos="318135" algn="l"/>
              </a:tabLst>
            </a:pP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Players</a:t>
            </a:r>
            <a:r>
              <a:rPr sz="1600" spc="-2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need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an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interactive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way</a:t>
            </a:r>
            <a:r>
              <a:rPr sz="1600" spc="-2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to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enter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moves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and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see</a:t>
            </a:r>
            <a:r>
              <a:rPr sz="1600" spc="-2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the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232323"/>
                </a:solidFill>
                <a:latin typeface="Arial MT"/>
                <a:cs typeface="Arial MT"/>
              </a:rPr>
              <a:t>current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game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232323"/>
                </a:solidFill>
                <a:latin typeface="Arial MT"/>
                <a:cs typeface="Arial MT"/>
              </a:rPr>
              <a:t>state.</a:t>
            </a:r>
            <a:endParaRPr sz="1600">
              <a:latin typeface="Arial MT"/>
              <a:cs typeface="Arial MT"/>
            </a:endParaRPr>
          </a:p>
          <a:p>
            <a:pPr marL="318135" marR="120014" indent="-306070">
              <a:lnSpc>
                <a:spcPct val="100000"/>
              </a:lnSpc>
              <a:spcBef>
                <a:spcPts val="700"/>
              </a:spcBef>
              <a:buFont typeface="Lucida Sans Unicode"/>
              <a:buChar char="□"/>
              <a:tabLst>
                <a:tab pos="318135" algn="l"/>
              </a:tabLst>
            </a:pP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Invalid</a:t>
            </a:r>
            <a:r>
              <a:rPr sz="1600" spc="-3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inputs,</a:t>
            </a:r>
            <a:r>
              <a:rPr sz="1600" spc="-3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such</a:t>
            </a:r>
            <a:r>
              <a:rPr sz="1600" spc="-3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as</a:t>
            </a:r>
            <a:r>
              <a:rPr sz="1600" spc="-3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occupied</a:t>
            </a:r>
            <a:r>
              <a:rPr sz="1600" spc="-3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or</a:t>
            </a:r>
            <a:r>
              <a:rPr sz="1600" spc="-3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out-of-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range</a:t>
            </a:r>
            <a:r>
              <a:rPr sz="1600" spc="-3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positions,</a:t>
            </a:r>
            <a:r>
              <a:rPr sz="1600" spc="-3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must</a:t>
            </a:r>
            <a:r>
              <a:rPr sz="1600" spc="-3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232323"/>
                </a:solidFill>
                <a:latin typeface="Arial MT"/>
                <a:cs typeface="Arial MT"/>
              </a:rPr>
              <a:t>be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handled</a:t>
            </a:r>
            <a:r>
              <a:rPr sz="1600" spc="-3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232323"/>
                </a:solidFill>
                <a:latin typeface="Arial MT"/>
                <a:cs typeface="Arial MT"/>
              </a:rPr>
              <a:t>safely.</a:t>
            </a:r>
            <a:endParaRPr sz="1600">
              <a:latin typeface="Arial MT"/>
              <a:cs typeface="Arial MT"/>
            </a:endParaRPr>
          </a:p>
          <a:p>
            <a:pPr marL="318135" marR="84455" indent="-306070">
              <a:lnSpc>
                <a:spcPct val="100000"/>
              </a:lnSpc>
              <a:spcBef>
                <a:spcPts val="700"/>
              </a:spcBef>
              <a:buFont typeface="Lucida Sans Unicode"/>
              <a:buChar char="□"/>
              <a:tabLst>
                <a:tab pos="318135" algn="l"/>
              </a:tabLst>
            </a:pP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The</a:t>
            </a:r>
            <a:r>
              <a:rPr sz="1600" spc="-2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program</a:t>
            </a:r>
            <a:r>
              <a:rPr sz="1600" spc="-2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must</a:t>
            </a:r>
            <a:r>
              <a:rPr sz="1600" spc="-2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determine</a:t>
            </a:r>
            <a:r>
              <a:rPr sz="1600" spc="-2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whether</a:t>
            </a:r>
            <a:r>
              <a:rPr sz="1600" spc="-2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X</a:t>
            </a:r>
            <a:r>
              <a:rPr sz="1600" spc="-2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or</a:t>
            </a:r>
            <a:r>
              <a:rPr sz="1600" spc="-2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O</a:t>
            </a:r>
            <a:r>
              <a:rPr sz="1600" spc="-2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wins</a:t>
            </a:r>
            <a:r>
              <a:rPr sz="1600" spc="-2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after</a:t>
            </a:r>
            <a:r>
              <a:rPr sz="1600" spc="-2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every</a:t>
            </a:r>
            <a:r>
              <a:rPr sz="1600" spc="-2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232323"/>
                </a:solidFill>
                <a:latin typeface="Arial MT"/>
                <a:cs typeface="Arial MT"/>
              </a:rPr>
              <a:t>valid move.</a:t>
            </a:r>
            <a:endParaRPr sz="1600">
              <a:latin typeface="Arial MT"/>
              <a:cs typeface="Arial MT"/>
            </a:endParaRPr>
          </a:p>
          <a:p>
            <a:pPr marL="318135" marR="446405" indent="-306070">
              <a:lnSpc>
                <a:spcPct val="100000"/>
              </a:lnSpc>
              <a:spcBef>
                <a:spcPts val="700"/>
              </a:spcBef>
              <a:buFont typeface="Lucida Sans Unicode"/>
              <a:buChar char="□"/>
              <a:tabLst>
                <a:tab pos="318135" algn="l"/>
              </a:tabLst>
            </a:pP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If</a:t>
            </a:r>
            <a:r>
              <a:rPr sz="1600" spc="-2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all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nine</a:t>
            </a:r>
            <a:r>
              <a:rPr sz="1600" spc="-2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positions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are</a:t>
            </a:r>
            <a:r>
              <a:rPr sz="1600" spc="-2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filled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without</a:t>
            </a:r>
            <a:r>
              <a:rPr sz="1600" spc="-2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a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winner,</a:t>
            </a:r>
            <a:r>
              <a:rPr sz="1600" spc="-2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the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game</a:t>
            </a:r>
            <a:r>
              <a:rPr sz="1600" spc="-2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232323"/>
                </a:solidFill>
                <a:latin typeface="Arial MT"/>
                <a:cs typeface="Arial MT"/>
              </a:rPr>
              <a:t>should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declare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a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232323"/>
                </a:solidFill>
                <a:latin typeface="Arial MT"/>
                <a:cs typeface="Arial MT"/>
              </a:rPr>
              <a:t>draw.</a:t>
            </a:r>
            <a:endParaRPr sz="1600">
              <a:latin typeface="Arial MT"/>
              <a:cs typeface="Arial MT"/>
            </a:endParaRPr>
          </a:p>
          <a:p>
            <a:pPr marL="374650" indent="-361950">
              <a:lnSpc>
                <a:spcPct val="100000"/>
              </a:lnSpc>
              <a:spcBef>
                <a:spcPts val="700"/>
              </a:spcBef>
              <a:buFont typeface="Lucida Sans Unicode"/>
              <a:buChar char="□"/>
              <a:tabLst>
                <a:tab pos="374650" algn="l"/>
              </a:tabLst>
            </a:pP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The</a:t>
            </a:r>
            <a:r>
              <a:rPr sz="1600" spc="-2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project</a:t>
            </a:r>
            <a:r>
              <a:rPr sz="1600" spc="-2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should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allow</a:t>
            </a:r>
            <a:r>
              <a:rPr sz="1600" spc="-2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a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new</a:t>
            </a:r>
            <a:r>
              <a:rPr sz="1600" spc="-2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game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after</a:t>
            </a:r>
            <a:r>
              <a:rPr sz="1600" spc="-2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232323"/>
                </a:solidFill>
                <a:latin typeface="Arial MT"/>
                <a:cs typeface="Arial MT"/>
              </a:rPr>
              <a:t>completion.</a:t>
            </a:r>
            <a:endParaRPr sz="1600">
              <a:latin typeface="Arial MT"/>
              <a:cs typeface="Arial MT"/>
            </a:endParaRPr>
          </a:p>
          <a:p>
            <a:pPr marL="318135" marR="140970" indent="-306070">
              <a:lnSpc>
                <a:spcPct val="100000"/>
              </a:lnSpc>
              <a:spcBef>
                <a:spcPts val="700"/>
              </a:spcBef>
              <a:buFont typeface="Lucida Sans Unicode"/>
              <a:buChar char="□"/>
              <a:tabLst>
                <a:tab pos="318135" algn="l"/>
              </a:tabLst>
            </a:pP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The</a:t>
            </a:r>
            <a:r>
              <a:rPr sz="1600" spc="-2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aim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is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to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232323"/>
                </a:solidFill>
                <a:latin typeface="Arial MT"/>
                <a:cs typeface="Arial MT"/>
              </a:rPr>
              <a:t>demonstrate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practical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Python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logic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through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a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232323"/>
                </a:solidFill>
                <a:latin typeface="Arial MT"/>
                <a:cs typeface="Arial MT"/>
              </a:rPr>
              <a:t>simple,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user-friendly</a:t>
            </a:r>
            <a:r>
              <a:rPr sz="1600" spc="-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232323"/>
                </a:solidFill>
                <a:latin typeface="Arial MT"/>
                <a:cs typeface="Arial MT"/>
              </a:rPr>
              <a:t>game.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4140" rIns="0" bIns="0" rtlCol="0">
            <a:spAutoFit/>
          </a:bodyPr>
          <a:lstStyle/>
          <a:p>
            <a:pPr marL="97790">
              <a:lnSpc>
                <a:spcPct val="100000"/>
              </a:lnSpc>
              <a:spcBef>
                <a:spcPts val="100"/>
              </a:spcBef>
            </a:pPr>
            <a:r>
              <a:rPr dirty="0"/>
              <a:t>2.</a:t>
            </a:r>
            <a:r>
              <a:rPr spc="-35" dirty="0"/>
              <a:t> </a:t>
            </a:r>
            <a:r>
              <a:rPr spc="-10" dirty="0"/>
              <a:t>Objective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02200" y="1598598"/>
            <a:ext cx="31051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 MT"/>
                <a:cs typeface="Arial MT"/>
              </a:rPr>
              <a:t>.</a:t>
            </a:r>
            <a:r>
              <a:rPr sz="1600" spc="180" dirty="0">
                <a:latin typeface="Arial MT"/>
                <a:cs typeface="Arial MT"/>
              </a:rPr>
              <a:t> </a:t>
            </a:r>
            <a:r>
              <a:rPr sz="2400" spc="-555" baseline="-29513" dirty="0">
                <a:solidFill>
                  <a:srgbClr val="232323"/>
                </a:solidFill>
                <a:latin typeface="Lucida Sans Unicode"/>
                <a:cs typeface="Lucida Sans Unicode"/>
              </a:rPr>
              <a:t>□</a:t>
            </a:r>
            <a:endParaRPr sz="2400" baseline="-29513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52249" y="1285224"/>
            <a:ext cx="6071870" cy="317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8135" marR="5080" indent="-306070">
              <a:lnSpc>
                <a:spcPct val="136500"/>
              </a:lnSpc>
              <a:spcBef>
                <a:spcPts val="100"/>
              </a:spcBef>
              <a:buFont typeface="Lucida Sans Unicode"/>
              <a:buChar char="□"/>
              <a:tabLst>
                <a:tab pos="318135" algn="l"/>
              </a:tabLst>
            </a:pP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To</a:t>
            </a:r>
            <a:r>
              <a:rPr sz="1600" spc="-1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develop</a:t>
            </a:r>
            <a:r>
              <a:rPr sz="1600" spc="-1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a</a:t>
            </a:r>
            <a:r>
              <a:rPr sz="1600" spc="-1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232323"/>
                </a:solidFill>
                <a:latin typeface="Arial MT"/>
                <a:cs typeface="Arial MT"/>
              </a:rPr>
              <a:t>Python-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based</a:t>
            </a:r>
            <a:r>
              <a:rPr sz="1600" spc="-1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Tic</a:t>
            </a:r>
            <a:r>
              <a:rPr sz="1600" spc="-1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Tac</a:t>
            </a:r>
            <a:r>
              <a:rPr sz="1600" spc="-1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Toe</a:t>
            </a:r>
            <a:r>
              <a:rPr sz="1600" spc="-1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game</a:t>
            </a:r>
            <a:r>
              <a:rPr sz="1600" spc="-1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using</a:t>
            </a:r>
            <a:r>
              <a:rPr sz="1600" spc="-1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a</a:t>
            </a:r>
            <a:r>
              <a:rPr sz="1600" spc="-1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3×3</a:t>
            </a:r>
            <a:r>
              <a:rPr sz="1600" spc="-10" dirty="0">
                <a:solidFill>
                  <a:srgbClr val="232323"/>
                </a:solidFill>
                <a:latin typeface="Arial MT"/>
                <a:cs typeface="Arial MT"/>
              </a:rPr>
              <a:t> grid.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To</a:t>
            </a:r>
            <a:r>
              <a:rPr sz="1600" spc="-1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allow</a:t>
            </a:r>
            <a:r>
              <a:rPr sz="1600" spc="-1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two</a:t>
            </a:r>
            <a:r>
              <a:rPr sz="1600" spc="-1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players</a:t>
            </a:r>
            <a:r>
              <a:rPr sz="1600" spc="-1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to</a:t>
            </a:r>
            <a:r>
              <a:rPr sz="1600" spc="-1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play</a:t>
            </a:r>
            <a:r>
              <a:rPr sz="1600" spc="-1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alternately</a:t>
            </a:r>
            <a:r>
              <a:rPr sz="1600" spc="-1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using</a:t>
            </a:r>
            <a:r>
              <a:rPr sz="1600" spc="-1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X</a:t>
            </a:r>
            <a:r>
              <a:rPr sz="1600" spc="-1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and</a:t>
            </a:r>
            <a:r>
              <a:rPr sz="1600" spc="-1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232323"/>
                </a:solidFill>
                <a:latin typeface="Arial MT"/>
                <a:cs typeface="Arial MT"/>
              </a:rPr>
              <a:t>O.</a:t>
            </a:r>
            <a:endParaRPr sz="1600">
              <a:latin typeface="Arial MT"/>
              <a:cs typeface="Arial MT"/>
            </a:endParaRPr>
          </a:p>
          <a:p>
            <a:pPr marL="318135" indent="-305435">
              <a:lnSpc>
                <a:spcPct val="100000"/>
              </a:lnSpc>
              <a:spcBef>
                <a:spcPts val="700"/>
              </a:spcBef>
              <a:buFont typeface="Lucida Sans Unicode"/>
              <a:buChar char="□"/>
              <a:tabLst>
                <a:tab pos="318135" algn="l"/>
              </a:tabLst>
            </a:pP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To</a:t>
            </a:r>
            <a:r>
              <a:rPr sz="1600" spc="-3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validate</a:t>
            </a:r>
            <a:r>
              <a:rPr sz="1600" spc="-3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user</a:t>
            </a:r>
            <a:r>
              <a:rPr sz="1600" spc="-3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input</a:t>
            </a:r>
            <a:r>
              <a:rPr sz="1600" spc="-3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and</a:t>
            </a:r>
            <a:r>
              <a:rPr sz="1600" spc="-3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prevent</a:t>
            </a:r>
            <a:r>
              <a:rPr sz="1600" spc="-3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invalid</a:t>
            </a:r>
            <a:r>
              <a:rPr sz="1600" spc="-3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or</a:t>
            </a:r>
            <a:r>
              <a:rPr sz="1600" spc="-3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repeated</a:t>
            </a:r>
            <a:r>
              <a:rPr sz="1600" spc="-3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232323"/>
                </a:solidFill>
                <a:latin typeface="Arial MT"/>
                <a:cs typeface="Arial MT"/>
              </a:rPr>
              <a:t>moves.</a:t>
            </a:r>
            <a:endParaRPr sz="1600">
              <a:latin typeface="Arial MT"/>
              <a:cs typeface="Arial MT"/>
            </a:endParaRPr>
          </a:p>
          <a:p>
            <a:pPr marL="318135" marR="632460" indent="-306070">
              <a:lnSpc>
                <a:spcPct val="100000"/>
              </a:lnSpc>
              <a:spcBef>
                <a:spcPts val="700"/>
              </a:spcBef>
              <a:buChar char="□"/>
              <a:tabLst>
                <a:tab pos="318135" algn="l"/>
                <a:tab pos="374650" algn="l"/>
              </a:tabLst>
            </a:pPr>
            <a:r>
              <a:rPr sz="1600" dirty="0">
                <a:solidFill>
                  <a:srgbClr val="232323"/>
                </a:solidFill>
                <a:latin typeface="Lucida Sans Unicode"/>
                <a:cs typeface="Lucida Sans Unicode"/>
              </a:rPr>
              <a:t>	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To</a:t>
            </a:r>
            <a:r>
              <a:rPr sz="1600" spc="-3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implement</a:t>
            </a:r>
            <a:r>
              <a:rPr sz="1600" spc="-3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winner</a:t>
            </a:r>
            <a:r>
              <a:rPr sz="1600" spc="-2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detection</a:t>
            </a:r>
            <a:r>
              <a:rPr sz="1600" spc="-3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using</a:t>
            </a:r>
            <a:r>
              <a:rPr sz="1600" spc="-3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rows,</a:t>
            </a:r>
            <a:r>
              <a:rPr sz="1600" spc="-2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columns</a:t>
            </a:r>
            <a:r>
              <a:rPr sz="1600" spc="-3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232323"/>
                </a:solidFill>
                <a:latin typeface="Arial MT"/>
                <a:cs typeface="Arial MT"/>
              </a:rPr>
              <a:t>and </a:t>
            </a:r>
            <a:r>
              <a:rPr sz="1600" spc="-10" dirty="0">
                <a:solidFill>
                  <a:srgbClr val="232323"/>
                </a:solidFill>
                <a:latin typeface="Arial MT"/>
                <a:cs typeface="Arial MT"/>
              </a:rPr>
              <a:t>diagonals.</a:t>
            </a:r>
            <a:endParaRPr sz="1600">
              <a:latin typeface="Arial MT"/>
              <a:cs typeface="Arial MT"/>
            </a:endParaRPr>
          </a:p>
          <a:p>
            <a:pPr marL="318135" indent="-305435">
              <a:lnSpc>
                <a:spcPct val="100000"/>
              </a:lnSpc>
              <a:spcBef>
                <a:spcPts val="700"/>
              </a:spcBef>
              <a:buFont typeface="Lucida Sans Unicode"/>
              <a:buChar char="□"/>
              <a:tabLst>
                <a:tab pos="318135" algn="l"/>
              </a:tabLst>
            </a:pP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To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identify</a:t>
            </a:r>
            <a:r>
              <a:rPr sz="1600" spc="-1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draw</a:t>
            </a:r>
            <a:r>
              <a:rPr sz="1600" spc="-1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conditions</a:t>
            </a:r>
            <a:r>
              <a:rPr sz="1600" spc="-1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when</a:t>
            </a:r>
            <a:r>
              <a:rPr sz="1600" spc="-1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the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board</a:t>
            </a:r>
            <a:r>
              <a:rPr sz="1600" spc="-1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becomes</a:t>
            </a:r>
            <a:r>
              <a:rPr sz="1600" spc="-1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232323"/>
                </a:solidFill>
                <a:latin typeface="Arial MT"/>
                <a:cs typeface="Arial MT"/>
              </a:rPr>
              <a:t>full.</a:t>
            </a:r>
            <a:endParaRPr sz="1600">
              <a:latin typeface="Arial MT"/>
              <a:cs typeface="Arial MT"/>
            </a:endParaRPr>
          </a:p>
          <a:p>
            <a:pPr marL="318135" indent="-305435">
              <a:lnSpc>
                <a:spcPct val="100000"/>
              </a:lnSpc>
              <a:spcBef>
                <a:spcPts val="700"/>
              </a:spcBef>
              <a:buFont typeface="Lucida Sans Unicode"/>
              <a:buChar char="□"/>
              <a:tabLst>
                <a:tab pos="318135" algn="l"/>
              </a:tabLst>
            </a:pP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To</a:t>
            </a:r>
            <a:r>
              <a:rPr sz="1600" spc="-2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provide</a:t>
            </a:r>
            <a:r>
              <a:rPr sz="1600" spc="-2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an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option</a:t>
            </a:r>
            <a:r>
              <a:rPr sz="1600" spc="-2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to</a:t>
            </a:r>
            <a:r>
              <a:rPr sz="1600" spc="-2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start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a</a:t>
            </a:r>
            <a:r>
              <a:rPr sz="1600" spc="-2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new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232323"/>
                </a:solidFill>
                <a:latin typeface="Arial MT"/>
                <a:cs typeface="Arial MT"/>
              </a:rPr>
              <a:t>game.</a:t>
            </a:r>
            <a:endParaRPr sz="1600">
              <a:latin typeface="Arial MT"/>
              <a:cs typeface="Arial MT"/>
            </a:endParaRPr>
          </a:p>
          <a:p>
            <a:pPr marL="318135" marR="269875" indent="-306070">
              <a:lnSpc>
                <a:spcPct val="100000"/>
              </a:lnSpc>
              <a:spcBef>
                <a:spcPts val="700"/>
              </a:spcBef>
              <a:buFont typeface="Lucida Sans Unicode"/>
              <a:buChar char="□"/>
              <a:tabLst>
                <a:tab pos="318135" algn="l"/>
              </a:tabLst>
            </a:pP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To</a:t>
            </a:r>
            <a:r>
              <a:rPr sz="1600" spc="-3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understand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and</a:t>
            </a:r>
            <a:r>
              <a:rPr sz="1600" spc="-1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apply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core</a:t>
            </a:r>
            <a:r>
              <a:rPr sz="1600" spc="-1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Python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concepts</a:t>
            </a:r>
            <a:r>
              <a:rPr sz="1600" spc="-1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such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as</a:t>
            </a:r>
            <a:r>
              <a:rPr sz="1600" spc="-1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232323"/>
                </a:solidFill>
                <a:latin typeface="Arial MT"/>
                <a:cs typeface="Arial MT"/>
              </a:rPr>
              <a:t>lists,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loops,</a:t>
            </a:r>
            <a:r>
              <a:rPr sz="1600" spc="-3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functions</a:t>
            </a:r>
            <a:r>
              <a:rPr sz="1600" spc="-2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and</a:t>
            </a:r>
            <a:r>
              <a:rPr sz="1600" spc="-2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conditional</a:t>
            </a:r>
            <a:r>
              <a:rPr sz="1600" spc="-2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232323"/>
                </a:solidFill>
                <a:latin typeface="Arial MT"/>
                <a:cs typeface="Arial MT"/>
              </a:rPr>
              <a:t>statements.</a:t>
            </a:r>
            <a:endParaRPr sz="1600">
              <a:latin typeface="Arial MT"/>
              <a:cs typeface="Arial MT"/>
            </a:endParaRPr>
          </a:p>
          <a:p>
            <a:pPr marL="318135" indent="-305435">
              <a:lnSpc>
                <a:spcPct val="100000"/>
              </a:lnSpc>
              <a:spcBef>
                <a:spcPts val="700"/>
              </a:spcBef>
              <a:buFont typeface="Lucida Sans Unicode"/>
              <a:buChar char="□"/>
              <a:tabLst>
                <a:tab pos="318135" algn="l"/>
              </a:tabLst>
            </a:pP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To</a:t>
            </a:r>
            <a:r>
              <a:rPr sz="1600" spc="-3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practice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232323"/>
                </a:solidFill>
                <a:latin typeface="Arial MT"/>
                <a:cs typeface="Arial MT"/>
              </a:rPr>
              <a:t>GitHub-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based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version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control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and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232323"/>
                </a:solidFill>
                <a:latin typeface="Arial MT"/>
                <a:cs typeface="Arial MT"/>
              </a:rPr>
              <a:t>collaboration.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4140" rIns="0" bIns="0" rtlCol="0">
            <a:spAutoFit/>
          </a:bodyPr>
          <a:lstStyle/>
          <a:p>
            <a:pPr marL="97790">
              <a:lnSpc>
                <a:spcPct val="100000"/>
              </a:lnSpc>
              <a:spcBef>
                <a:spcPts val="100"/>
              </a:spcBef>
            </a:pPr>
            <a:r>
              <a:rPr dirty="0"/>
              <a:t>3.</a:t>
            </a:r>
            <a:r>
              <a:rPr spc="-35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3435" y="1031717"/>
            <a:ext cx="6411595" cy="3734435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305435" indent="-305435">
              <a:lnSpc>
                <a:spcPct val="100000"/>
              </a:lnSpc>
              <a:spcBef>
                <a:spcPts val="800"/>
              </a:spcBef>
              <a:buFont typeface="Lucida Sans Unicode"/>
              <a:buChar char="□"/>
              <a:tabLst>
                <a:tab pos="305435" algn="l"/>
              </a:tabLst>
            </a:pP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Start</a:t>
            </a:r>
            <a:r>
              <a:rPr sz="1600" spc="-5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the</a:t>
            </a:r>
            <a:r>
              <a:rPr sz="1600" spc="-5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232323"/>
                </a:solidFill>
                <a:latin typeface="Arial MT"/>
                <a:cs typeface="Arial MT"/>
              </a:rPr>
              <a:t>program.</a:t>
            </a:r>
            <a:endParaRPr sz="1600">
              <a:latin typeface="Arial MT"/>
              <a:cs typeface="Arial MT"/>
            </a:endParaRPr>
          </a:p>
          <a:p>
            <a:pPr marL="305435" indent="-305435">
              <a:lnSpc>
                <a:spcPct val="100000"/>
              </a:lnSpc>
              <a:spcBef>
                <a:spcPts val="700"/>
              </a:spcBef>
              <a:buFont typeface="Lucida Sans Unicode"/>
              <a:buChar char="□"/>
              <a:tabLst>
                <a:tab pos="305435" algn="l"/>
              </a:tabLst>
            </a:pP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Create</a:t>
            </a:r>
            <a:r>
              <a:rPr sz="1600" spc="-2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a</a:t>
            </a:r>
            <a:r>
              <a:rPr sz="1600" spc="-2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3×3</a:t>
            </a:r>
            <a:r>
              <a:rPr sz="1600" spc="-2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board</a:t>
            </a:r>
            <a:r>
              <a:rPr sz="1600" spc="-2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with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empty</a:t>
            </a:r>
            <a:r>
              <a:rPr sz="1600" spc="-2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232323"/>
                </a:solidFill>
                <a:latin typeface="Arial MT"/>
                <a:cs typeface="Arial MT"/>
              </a:rPr>
              <a:t>positions.</a:t>
            </a:r>
            <a:endParaRPr sz="1600">
              <a:latin typeface="Arial MT"/>
              <a:cs typeface="Arial MT"/>
            </a:endParaRPr>
          </a:p>
          <a:p>
            <a:pPr marL="305435" indent="-305435">
              <a:lnSpc>
                <a:spcPct val="100000"/>
              </a:lnSpc>
              <a:spcBef>
                <a:spcPts val="700"/>
              </a:spcBef>
              <a:buFont typeface="Lucida Sans Unicode"/>
              <a:buChar char="□"/>
              <a:tabLst>
                <a:tab pos="305435" algn="l"/>
              </a:tabLst>
            </a:pP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Set</a:t>
            </a:r>
            <a:r>
              <a:rPr sz="1600" spc="-3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the</a:t>
            </a:r>
            <a:r>
              <a:rPr sz="1600" spc="-3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current</a:t>
            </a:r>
            <a:r>
              <a:rPr sz="1600" spc="-3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player</a:t>
            </a:r>
            <a:r>
              <a:rPr sz="1600" spc="-3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as</a:t>
            </a:r>
            <a:r>
              <a:rPr sz="1600" spc="-3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232323"/>
                </a:solidFill>
                <a:latin typeface="Arial MT"/>
                <a:cs typeface="Arial MT"/>
              </a:rPr>
              <a:t>X.</a:t>
            </a:r>
            <a:endParaRPr sz="1600">
              <a:latin typeface="Arial MT"/>
              <a:cs typeface="Arial MT"/>
            </a:endParaRPr>
          </a:p>
          <a:p>
            <a:pPr marL="305435" indent="-305435">
              <a:lnSpc>
                <a:spcPct val="100000"/>
              </a:lnSpc>
              <a:spcBef>
                <a:spcPts val="700"/>
              </a:spcBef>
              <a:buFont typeface="Lucida Sans Unicode"/>
              <a:buChar char="□"/>
              <a:tabLst>
                <a:tab pos="305435" algn="l"/>
              </a:tabLst>
            </a:pP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Display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the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board</a:t>
            </a:r>
            <a:r>
              <a:rPr sz="1600" spc="-1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and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ask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the</a:t>
            </a:r>
            <a:r>
              <a:rPr sz="1600" spc="-1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player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for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a</a:t>
            </a:r>
            <a:r>
              <a:rPr sz="1600" spc="-1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valid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232323"/>
                </a:solidFill>
                <a:latin typeface="Arial MT"/>
                <a:cs typeface="Arial MT"/>
              </a:rPr>
              <a:t>position.</a:t>
            </a:r>
            <a:endParaRPr sz="1600">
              <a:latin typeface="Arial MT"/>
              <a:cs typeface="Arial MT"/>
            </a:endParaRPr>
          </a:p>
          <a:p>
            <a:pPr marL="305435" indent="-305435">
              <a:lnSpc>
                <a:spcPct val="100000"/>
              </a:lnSpc>
              <a:spcBef>
                <a:spcPts val="700"/>
              </a:spcBef>
              <a:buFont typeface="Lucida Sans Unicode"/>
              <a:buChar char="□"/>
              <a:tabLst>
                <a:tab pos="305435" algn="l"/>
              </a:tabLst>
            </a:pP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Place</a:t>
            </a:r>
            <a:r>
              <a:rPr sz="1600" spc="-3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the</a:t>
            </a:r>
            <a:r>
              <a:rPr sz="1600" spc="-3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player's</a:t>
            </a:r>
            <a:r>
              <a:rPr sz="1600" spc="-3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symbol</a:t>
            </a:r>
            <a:r>
              <a:rPr sz="1600" spc="-3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in</a:t>
            </a:r>
            <a:r>
              <a:rPr sz="1600" spc="-3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the</a:t>
            </a:r>
            <a:r>
              <a:rPr sz="1600" spc="-2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selected</a:t>
            </a:r>
            <a:r>
              <a:rPr sz="1600" spc="-3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empty</a:t>
            </a:r>
            <a:r>
              <a:rPr sz="1600" spc="-3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232323"/>
                </a:solidFill>
                <a:latin typeface="Arial MT"/>
                <a:cs typeface="Arial MT"/>
              </a:rPr>
              <a:t>position.</a:t>
            </a:r>
            <a:endParaRPr sz="1600">
              <a:latin typeface="Arial MT"/>
              <a:cs typeface="Arial MT"/>
            </a:endParaRPr>
          </a:p>
          <a:p>
            <a:pPr marL="305435" indent="-305435">
              <a:lnSpc>
                <a:spcPct val="100000"/>
              </a:lnSpc>
              <a:spcBef>
                <a:spcPts val="700"/>
              </a:spcBef>
              <a:buFont typeface="Lucida Sans Unicode"/>
              <a:buChar char="□"/>
              <a:tabLst>
                <a:tab pos="305435" algn="l"/>
              </a:tabLst>
            </a:pP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Check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all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rows,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columns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and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diagonals</a:t>
            </a:r>
            <a:r>
              <a:rPr sz="1600" spc="-1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for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a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winning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232323"/>
                </a:solidFill>
                <a:latin typeface="Arial MT"/>
                <a:cs typeface="Arial MT"/>
              </a:rPr>
              <a:t>combination.</a:t>
            </a:r>
            <a:endParaRPr sz="1600">
              <a:latin typeface="Arial MT"/>
              <a:cs typeface="Arial MT"/>
            </a:endParaRPr>
          </a:p>
          <a:p>
            <a:pPr marL="305435" indent="-305435">
              <a:lnSpc>
                <a:spcPct val="100000"/>
              </a:lnSpc>
              <a:spcBef>
                <a:spcPts val="700"/>
              </a:spcBef>
              <a:buFont typeface="Lucida Sans Unicode"/>
              <a:buChar char="□"/>
              <a:tabLst>
                <a:tab pos="305435" algn="l"/>
              </a:tabLst>
            </a:pP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If</a:t>
            </a:r>
            <a:r>
              <a:rPr sz="1600" spc="-2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a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winner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is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found,</a:t>
            </a:r>
            <a:r>
              <a:rPr sz="1600" spc="-2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display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the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winner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and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end</a:t>
            </a:r>
            <a:r>
              <a:rPr sz="1600" spc="-2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the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232323"/>
                </a:solidFill>
                <a:latin typeface="Arial MT"/>
                <a:cs typeface="Arial MT"/>
              </a:rPr>
              <a:t>game.</a:t>
            </a:r>
            <a:endParaRPr sz="1600">
              <a:latin typeface="Arial MT"/>
              <a:cs typeface="Arial MT"/>
            </a:endParaRPr>
          </a:p>
          <a:p>
            <a:pPr marL="305435" indent="-305435">
              <a:lnSpc>
                <a:spcPct val="100000"/>
              </a:lnSpc>
              <a:spcBef>
                <a:spcPts val="700"/>
              </a:spcBef>
              <a:buFont typeface="Lucida Sans Unicode"/>
              <a:buChar char="□"/>
              <a:tabLst>
                <a:tab pos="305435" algn="l"/>
              </a:tabLst>
            </a:pP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If</a:t>
            </a:r>
            <a:r>
              <a:rPr sz="1600" spc="-2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the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board</a:t>
            </a:r>
            <a:r>
              <a:rPr sz="1600" spc="-2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is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full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without</a:t>
            </a:r>
            <a:r>
              <a:rPr sz="1600" spc="-2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a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winner,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display</a:t>
            </a:r>
            <a:r>
              <a:rPr sz="1600" spc="-2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Draw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and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end</a:t>
            </a:r>
            <a:r>
              <a:rPr sz="1600" spc="-2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the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232323"/>
                </a:solidFill>
                <a:latin typeface="Arial MT"/>
                <a:cs typeface="Arial MT"/>
              </a:rPr>
              <a:t>game.</a:t>
            </a:r>
            <a:endParaRPr sz="1600">
              <a:latin typeface="Arial MT"/>
              <a:cs typeface="Arial MT"/>
            </a:endParaRPr>
          </a:p>
          <a:p>
            <a:pPr marL="305435" indent="-305435">
              <a:lnSpc>
                <a:spcPct val="100000"/>
              </a:lnSpc>
              <a:spcBef>
                <a:spcPts val="700"/>
              </a:spcBef>
              <a:buFont typeface="Lucida Sans Unicode"/>
              <a:buChar char="□"/>
              <a:tabLst>
                <a:tab pos="305435" algn="l"/>
              </a:tabLst>
            </a:pP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Otherwise</a:t>
            </a:r>
            <a:r>
              <a:rPr sz="1600" spc="-2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switch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the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player</a:t>
            </a:r>
            <a:r>
              <a:rPr sz="1600" spc="-2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from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X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to</a:t>
            </a:r>
            <a:r>
              <a:rPr sz="1600" spc="-2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O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or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O</a:t>
            </a:r>
            <a:r>
              <a:rPr sz="1600" spc="-2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to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X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and</a:t>
            </a:r>
            <a:r>
              <a:rPr sz="1600" spc="-2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232323"/>
                </a:solidFill>
                <a:latin typeface="Arial MT"/>
                <a:cs typeface="Arial MT"/>
              </a:rPr>
              <a:t>repeat.</a:t>
            </a:r>
            <a:endParaRPr sz="1600">
              <a:latin typeface="Arial MT"/>
              <a:cs typeface="Arial MT"/>
            </a:endParaRPr>
          </a:p>
          <a:p>
            <a:pPr marL="361950" indent="-361950">
              <a:lnSpc>
                <a:spcPct val="100000"/>
              </a:lnSpc>
              <a:spcBef>
                <a:spcPts val="700"/>
              </a:spcBef>
              <a:buFont typeface="Lucida Sans Unicode"/>
              <a:buChar char="□"/>
              <a:tabLst>
                <a:tab pos="361950" algn="l"/>
              </a:tabLst>
            </a:pP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Offer</a:t>
            </a:r>
            <a:r>
              <a:rPr sz="1600" spc="-3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the</a:t>
            </a:r>
            <a:r>
              <a:rPr sz="1600" spc="-3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option</a:t>
            </a:r>
            <a:r>
              <a:rPr sz="1600" spc="-3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to</a:t>
            </a:r>
            <a:r>
              <a:rPr sz="1600" spc="-3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start</a:t>
            </a:r>
            <a:r>
              <a:rPr sz="1600" spc="-3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a</a:t>
            </a:r>
            <a:r>
              <a:rPr sz="1600" spc="-3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new</a:t>
            </a:r>
            <a:r>
              <a:rPr sz="1600" spc="-3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game.</a:t>
            </a:r>
            <a:endParaRPr sz="1600">
              <a:latin typeface="Arial MT"/>
              <a:cs typeface="Arial MT"/>
            </a:endParaRPr>
          </a:p>
          <a:p>
            <a:pPr marL="32384">
              <a:lnSpc>
                <a:spcPct val="100000"/>
              </a:lnSpc>
              <a:spcBef>
                <a:spcPts val="1085"/>
              </a:spcBef>
            </a:pPr>
            <a:r>
              <a:rPr sz="1600" spc="-50" dirty="0">
                <a:latin typeface="Arial MT"/>
                <a:cs typeface="Arial MT"/>
              </a:rPr>
              <a:t>.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41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4.</a:t>
            </a:r>
            <a:r>
              <a:rPr spc="-35" dirty="0"/>
              <a:t> </a:t>
            </a:r>
            <a:r>
              <a:rPr spc="-10" dirty="0"/>
              <a:t>Flowchart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801128"/>
            <a:ext cx="8305799" cy="529487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4140" rIns="0" bIns="0" rtlCol="0">
            <a:spAutoFit/>
          </a:bodyPr>
          <a:lstStyle/>
          <a:p>
            <a:pPr marL="213360">
              <a:lnSpc>
                <a:spcPct val="100000"/>
              </a:lnSpc>
              <a:spcBef>
                <a:spcPts val="100"/>
              </a:spcBef>
            </a:pPr>
            <a:r>
              <a:rPr dirty="0"/>
              <a:t>5.</a:t>
            </a:r>
            <a:r>
              <a:rPr spc="-40" dirty="0"/>
              <a:t> </a:t>
            </a:r>
            <a:r>
              <a:rPr dirty="0"/>
              <a:t>Understanding</a:t>
            </a:r>
            <a:r>
              <a:rPr spc="-4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python</a:t>
            </a:r>
            <a:r>
              <a:rPr spc="-35" dirty="0"/>
              <a:t> </a:t>
            </a:r>
            <a:r>
              <a:rPr spc="-10" dirty="0"/>
              <a:t>logic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45750" y="914477"/>
            <a:ext cx="3242310" cy="3376929"/>
            <a:chOff x="245750" y="914477"/>
            <a:chExt cx="3242310" cy="3376929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5750" y="914477"/>
              <a:ext cx="3242300" cy="337690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04800" y="953527"/>
              <a:ext cx="3124200" cy="3258820"/>
            </a:xfrm>
            <a:custGeom>
              <a:avLst/>
              <a:gdLst/>
              <a:ahLst/>
              <a:cxnLst/>
              <a:rect l="l" t="t" r="r" b="b"/>
              <a:pathLst>
                <a:path w="3124200" h="3258820">
                  <a:moveTo>
                    <a:pt x="2603489" y="3258806"/>
                  </a:moveTo>
                  <a:lnTo>
                    <a:pt x="520710" y="3258806"/>
                  </a:lnTo>
                  <a:lnTo>
                    <a:pt x="473315" y="3256679"/>
                  </a:lnTo>
                  <a:lnTo>
                    <a:pt x="427112" y="3250417"/>
                  </a:lnTo>
                  <a:lnTo>
                    <a:pt x="382284" y="3240206"/>
                  </a:lnTo>
                  <a:lnTo>
                    <a:pt x="339017" y="3226230"/>
                  </a:lnTo>
                  <a:lnTo>
                    <a:pt x="297494" y="3208671"/>
                  </a:lnTo>
                  <a:lnTo>
                    <a:pt x="257897" y="3187714"/>
                  </a:lnTo>
                  <a:lnTo>
                    <a:pt x="220413" y="3163543"/>
                  </a:lnTo>
                  <a:lnTo>
                    <a:pt x="185223" y="3136342"/>
                  </a:lnTo>
                  <a:lnTo>
                    <a:pt x="152512" y="3106294"/>
                  </a:lnTo>
                  <a:lnTo>
                    <a:pt x="122464" y="3073583"/>
                  </a:lnTo>
                  <a:lnTo>
                    <a:pt x="95263" y="3038393"/>
                  </a:lnTo>
                  <a:lnTo>
                    <a:pt x="71092" y="3000909"/>
                  </a:lnTo>
                  <a:lnTo>
                    <a:pt x="50135" y="2961312"/>
                  </a:lnTo>
                  <a:lnTo>
                    <a:pt x="32576" y="2919789"/>
                  </a:lnTo>
                  <a:lnTo>
                    <a:pt x="18600" y="2876521"/>
                  </a:lnTo>
                  <a:lnTo>
                    <a:pt x="8389" y="2831694"/>
                  </a:lnTo>
                  <a:lnTo>
                    <a:pt x="2127" y="2785491"/>
                  </a:lnTo>
                  <a:lnTo>
                    <a:pt x="0" y="2738096"/>
                  </a:lnTo>
                  <a:lnTo>
                    <a:pt x="0" y="520710"/>
                  </a:lnTo>
                  <a:lnTo>
                    <a:pt x="2127" y="473315"/>
                  </a:lnTo>
                  <a:lnTo>
                    <a:pt x="8389" y="427112"/>
                  </a:lnTo>
                  <a:lnTo>
                    <a:pt x="18600" y="382284"/>
                  </a:lnTo>
                  <a:lnTo>
                    <a:pt x="32576" y="339017"/>
                  </a:lnTo>
                  <a:lnTo>
                    <a:pt x="50135" y="297494"/>
                  </a:lnTo>
                  <a:lnTo>
                    <a:pt x="71092" y="257897"/>
                  </a:lnTo>
                  <a:lnTo>
                    <a:pt x="95263" y="220413"/>
                  </a:lnTo>
                  <a:lnTo>
                    <a:pt x="122464" y="185223"/>
                  </a:lnTo>
                  <a:lnTo>
                    <a:pt x="152512" y="152512"/>
                  </a:lnTo>
                  <a:lnTo>
                    <a:pt x="185223" y="122464"/>
                  </a:lnTo>
                  <a:lnTo>
                    <a:pt x="220413" y="95263"/>
                  </a:lnTo>
                  <a:lnTo>
                    <a:pt x="257897" y="71092"/>
                  </a:lnTo>
                  <a:lnTo>
                    <a:pt x="297494" y="50135"/>
                  </a:lnTo>
                  <a:lnTo>
                    <a:pt x="339017" y="32576"/>
                  </a:lnTo>
                  <a:lnTo>
                    <a:pt x="382284" y="18600"/>
                  </a:lnTo>
                  <a:lnTo>
                    <a:pt x="427112" y="8389"/>
                  </a:lnTo>
                  <a:lnTo>
                    <a:pt x="473315" y="2127"/>
                  </a:lnTo>
                  <a:lnTo>
                    <a:pt x="520710" y="0"/>
                  </a:lnTo>
                  <a:lnTo>
                    <a:pt x="2603489" y="0"/>
                  </a:lnTo>
                  <a:lnTo>
                    <a:pt x="2654955" y="2548"/>
                  </a:lnTo>
                  <a:lnTo>
                    <a:pt x="2705549" y="10097"/>
                  </a:lnTo>
                  <a:lnTo>
                    <a:pt x="2754930" y="22507"/>
                  </a:lnTo>
                  <a:lnTo>
                    <a:pt x="2802756" y="39636"/>
                  </a:lnTo>
                  <a:lnTo>
                    <a:pt x="2848687" y="61343"/>
                  </a:lnTo>
                  <a:lnTo>
                    <a:pt x="2892380" y="87485"/>
                  </a:lnTo>
                  <a:lnTo>
                    <a:pt x="2933493" y="117922"/>
                  </a:lnTo>
                  <a:lnTo>
                    <a:pt x="2971687" y="152512"/>
                  </a:lnTo>
                  <a:lnTo>
                    <a:pt x="3006277" y="190706"/>
                  </a:lnTo>
                  <a:lnTo>
                    <a:pt x="3036714" y="231819"/>
                  </a:lnTo>
                  <a:lnTo>
                    <a:pt x="3062856" y="275512"/>
                  </a:lnTo>
                  <a:lnTo>
                    <a:pt x="3084563" y="321443"/>
                  </a:lnTo>
                  <a:lnTo>
                    <a:pt x="3101692" y="369269"/>
                  </a:lnTo>
                  <a:lnTo>
                    <a:pt x="3114102" y="418650"/>
                  </a:lnTo>
                  <a:lnTo>
                    <a:pt x="3121651" y="469244"/>
                  </a:lnTo>
                  <a:lnTo>
                    <a:pt x="3124199" y="520710"/>
                  </a:lnTo>
                  <a:lnTo>
                    <a:pt x="3124199" y="2738096"/>
                  </a:lnTo>
                  <a:lnTo>
                    <a:pt x="3122072" y="2785491"/>
                  </a:lnTo>
                  <a:lnTo>
                    <a:pt x="3115810" y="2831694"/>
                  </a:lnTo>
                  <a:lnTo>
                    <a:pt x="3105599" y="2876521"/>
                  </a:lnTo>
                  <a:lnTo>
                    <a:pt x="3091623" y="2919789"/>
                  </a:lnTo>
                  <a:lnTo>
                    <a:pt x="3074064" y="2961312"/>
                  </a:lnTo>
                  <a:lnTo>
                    <a:pt x="3053107" y="3000909"/>
                  </a:lnTo>
                  <a:lnTo>
                    <a:pt x="3028936" y="3038393"/>
                  </a:lnTo>
                  <a:lnTo>
                    <a:pt x="3001735" y="3073583"/>
                  </a:lnTo>
                  <a:lnTo>
                    <a:pt x="2971687" y="3106294"/>
                  </a:lnTo>
                  <a:lnTo>
                    <a:pt x="2938976" y="3136342"/>
                  </a:lnTo>
                  <a:lnTo>
                    <a:pt x="2903786" y="3163543"/>
                  </a:lnTo>
                  <a:lnTo>
                    <a:pt x="2866302" y="3187714"/>
                  </a:lnTo>
                  <a:lnTo>
                    <a:pt x="2826705" y="3208671"/>
                  </a:lnTo>
                  <a:lnTo>
                    <a:pt x="2785182" y="3226230"/>
                  </a:lnTo>
                  <a:lnTo>
                    <a:pt x="2741915" y="3240206"/>
                  </a:lnTo>
                  <a:lnTo>
                    <a:pt x="2697087" y="3250417"/>
                  </a:lnTo>
                  <a:lnTo>
                    <a:pt x="2650884" y="3256679"/>
                  </a:lnTo>
                  <a:lnTo>
                    <a:pt x="2603489" y="32588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4800" y="953527"/>
              <a:ext cx="3124200" cy="3258820"/>
            </a:xfrm>
            <a:custGeom>
              <a:avLst/>
              <a:gdLst/>
              <a:ahLst/>
              <a:cxnLst/>
              <a:rect l="l" t="t" r="r" b="b"/>
              <a:pathLst>
                <a:path w="3124200" h="3258820">
                  <a:moveTo>
                    <a:pt x="0" y="520710"/>
                  </a:moveTo>
                  <a:lnTo>
                    <a:pt x="2127" y="473315"/>
                  </a:lnTo>
                  <a:lnTo>
                    <a:pt x="8389" y="427112"/>
                  </a:lnTo>
                  <a:lnTo>
                    <a:pt x="18600" y="382284"/>
                  </a:lnTo>
                  <a:lnTo>
                    <a:pt x="32576" y="339017"/>
                  </a:lnTo>
                  <a:lnTo>
                    <a:pt x="50135" y="297494"/>
                  </a:lnTo>
                  <a:lnTo>
                    <a:pt x="71092" y="257897"/>
                  </a:lnTo>
                  <a:lnTo>
                    <a:pt x="95263" y="220413"/>
                  </a:lnTo>
                  <a:lnTo>
                    <a:pt x="122464" y="185223"/>
                  </a:lnTo>
                  <a:lnTo>
                    <a:pt x="152512" y="152512"/>
                  </a:lnTo>
                  <a:lnTo>
                    <a:pt x="185223" y="122464"/>
                  </a:lnTo>
                  <a:lnTo>
                    <a:pt x="220413" y="95263"/>
                  </a:lnTo>
                  <a:lnTo>
                    <a:pt x="257897" y="71092"/>
                  </a:lnTo>
                  <a:lnTo>
                    <a:pt x="297494" y="50135"/>
                  </a:lnTo>
                  <a:lnTo>
                    <a:pt x="339017" y="32576"/>
                  </a:lnTo>
                  <a:lnTo>
                    <a:pt x="382284" y="18600"/>
                  </a:lnTo>
                  <a:lnTo>
                    <a:pt x="427112" y="8389"/>
                  </a:lnTo>
                  <a:lnTo>
                    <a:pt x="473315" y="2127"/>
                  </a:lnTo>
                  <a:lnTo>
                    <a:pt x="520710" y="0"/>
                  </a:lnTo>
                  <a:lnTo>
                    <a:pt x="2603489" y="0"/>
                  </a:lnTo>
                  <a:lnTo>
                    <a:pt x="2654955" y="2548"/>
                  </a:lnTo>
                  <a:lnTo>
                    <a:pt x="2705549" y="10097"/>
                  </a:lnTo>
                  <a:lnTo>
                    <a:pt x="2754930" y="22507"/>
                  </a:lnTo>
                  <a:lnTo>
                    <a:pt x="2802756" y="39636"/>
                  </a:lnTo>
                  <a:lnTo>
                    <a:pt x="2848687" y="61343"/>
                  </a:lnTo>
                  <a:lnTo>
                    <a:pt x="2892380" y="87485"/>
                  </a:lnTo>
                  <a:lnTo>
                    <a:pt x="2933493" y="117922"/>
                  </a:lnTo>
                  <a:lnTo>
                    <a:pt x="2971687" y="152512"/>
                  </a:lnTo>
                  <a:lnTo>
                    <a:pt x="3006277" y="190706"/>
                  </a:lnTo>
                  <a:lnTo>
                    <a:pt x="3036714" y="231819"/>
                  </a:lnTo>
                  <a:lnTo>
                    <a:pt x="3062856" y="275512"/>
                  </a:lnTo>
                  <a:lnTo>
                    <a:pt x="3084563" y="321443"/>
                  </a:lnTo>
                  <a:lnTo>
                    <a:pt x="3101692" y="369269"/>
                  </a:lnTo>
                  <a:lnTo>
                    <a:pt x="3114102" y="418650"/>
                  </a:lnTo>
                  <a:lnTo>
                    <a:pt x="3121651" y="469244"/>
                  </a:lnTo>
                  <a:lnTo>
                    <a:pt x="3124199" y="520710"/>
                  </a:lnTo>
                  <a:lnTo>
                    <a:pt x="3124199" y="2738096"/>
                  </a:lnTo>
                  <a:lnTo>
                    <a:pt x="3122072" y="2785491"/>
                  </a:lnTo>
                  <a:lnTo>
                    <a:pt x="3115810" y="2831694"/>
                  </a:lnTo>
                  <a:lnTo>
                    <a:pt x="3105599" y="2876521"/>
                  </a:lnTo>
                  <a:lnTo>
                    <a:pt x="3091623" y="2919789"/>
                  </a:lnTo>
                  <a:lnTo>
                    <a:pt x="3074064" y="2961312"/>
                  </a:lnTo>
                  <a:lnTo>
                    <a:pt x="3053107" y="3000909"/>
                  </a:lnTo>
                  <a:lnTo>
                    <a:pt x="3028936" y="3038393"/>
                  </a:lnTo>
                  <a:lnTo>
                    <a:pt x="3001735" y="3073583"/>
                  </a:lnTo>
                  <a:lnTo>
                    <a:pt x="2971687" y="3106294"/>
                  </a:lnTo>
                  <a:lnTo>
                    <a:pt x="2938976" y="3136342"/>
                  </a:lnTo>
                  <a:lnTo>
                    <a:pt x="2903786" y="3163543"/>
                  </a:lnTo>
                  <a:lnTo>
                    <a:pt x="2866302" y="3187714"/>
                  </a:lnTo>
                  <a:lnTo>
                    <a:pt x="2826705" y="3208671"/>
                  </a:lnTo>
                  <a:lnTo>
                    <a:pt x="2785182" y="3226230"/>
                  </a:lnTo>
                  <a:lnTo>
                    <a:pt x="2741915" y="3240206"/>
                  </a:lnTo>
                  <a:lnTo>
                    <a:pt x="2697087" y="3250417"/>
                  </a:lnTo>
                  <a:lnTo>
                    <a:pt x="2650884" y="3256679"/>
                  </a:lnTo>
                  <a:lnTo>
                    <a:pt x="2603489" y="3258806"/>
                  </a:lnTo>
                  <a:lnTo>
                    <a:pt x="520710" y="3258806"/>
                  </a:lnTo>
                  <a:lnTo>
                    <a:pt x="473315" y="3256679"/>
                  </a:lnTo>
                  <a:lnTo>
                    <a:pt x="427112" y="3250417"/>
                  </a:lnTo>
                  <a:lnTo>
                    <a:pt x="382284" y="3240206"/>
                  </a:lnTo>
                  <a:lnTo>
                    <a:pt x="339017" y="3226230"/>
                  </a:lnTo>
                  <a:lnTo>
                    <a:pt x="297494" y="3208671"/>
                  </a:lnTo>
                  <a:lnTo>
                    <a:pt x="257897" y="3187714"/>
                  </a:lnTo>
                  <a:lnTo>
                    <a:pt x="220413" y="3163543"/>
                  </a:lnTo>
                  <a:lnTo>
                    <a:pt x="185223" y="3136342"/>
                  </a:lnTo>
                  <a:lnTo>
                    <a:pt x="152512" y="3106294"/>
                  </a:lnTo>
                  <a:lnTo>
                    <a:pt x="122464" y="3073583"/>
                  </a:lnTo>
                  <a:lnTo>
                    <a:pt x="95263" y="3038393"/>
                  </a:lnTo>
                  <a:lnTo>
                    <a:pt x="71092" y="3000909"/>
                  </a:lnTo>
                  <a:lnTo>
                    <a:pt x="50135" y="2961312"/>
                  </a:lnTo>
                  <a:lnTo>
                    <a:pt x="32576" y="2919789"/>
                  </a:lnTo>
                  <a:lnTo>
                    <a:pt x="18600" y="2876521"/>
                  </a:lnTo>
                  <a:lnTo>
                    <a:pt x="8389" y="2831694"/>
                  </a:lnTo>
                  <a:lnTo>
                    <a:pt x="2127" y="2785491"/>
                  </a:lnTo>
                  <a:lnTo>
                    <a:pt x="0" y="2738096"/>
                  </a:lnTo>
                  <a:lnTo>
                    <a:pt x="0" y="520710"/>
                  </a:lnTo>
                  <a:close/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0335" y="1696725"/>
            <a:ext cx="1151890" cy="459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FFFFFF"/>
                </a:solidFill>
                <a:latin typeface="Consolas"/>
                <a:cs typeface="Consolas"/>
              </a:rPr>
              <a:t>board</a:t>
            </a:r>
            <a:r>
              <a:rPr sz="950" spc="-2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FFFFFF"/>
                </a:solidFill>
                <a:latin typeface="Consolas"/>
                <a:cs typeface="Consolas"/>
              </a:rPr>
              <a:t>=</a:t>
            </a:r>
            <a:r>
              <a:rPr sz="950" spc="-2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FFFFFF"/>
                </a:solidFill>
                <a:latin typeface="Consolas"/>
                <a:cs typeface="Consolas"/>
              </a:rPr>
              <a:t>["</a:t>
            </a:r>
            <a:r>
              <a:rPr sz="950" spc="-2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FFFFFF"/>
                </a:solidFill>
                <a:latin typeface="Consolas"/>
                <a:cs typeface="Consolas"/>
              </a:rPr>
              <a:t>"]</a:t>
            </a:r>
            <a:r>
              <a:rPr sz="950" spc="-2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FFFFFF"/>
                </a:solidFill>
                <a:latin typeface="Consolas"/>
                <a:cs typeface="Consolas"/>
              </a:rPr>
              <a:t>*</a:t>
            </a:r>
            <a:r>
              <a:rPr sz="950" spc="-2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950" spc="-50" dirty="0">
                <a:solidFill>
                  <a:srgbClr val="FFFFFF"/>
                </a:solidFill>
                <a:latin typeface="Consolas"/>
                <a:cs typeface="Consolas"/>
              </a:rPr>
              <a:t>9</a:t>
            </a:r>
            <a:endParaRPr sz="9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9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950" dirty="0">
                <a:solidFill>
                  <a:srgbClr val="FFFFFF"/>
                </a:solidFill>
                <a:latin typeface="Consolas"/>
                <a:cs typeface="Consolas"/>
              </a:rPr>
              <a:t>winning</a:t>
            </a:r>
            <a:r>
              <a:rPr sz="950" spc="-4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FFFFFF"/>
                </a:solidFill>
                <a:latin typeface="Consolas"/>
                <a:cs typeface="Consolas"/>
              </a:rPr>
              <a:t>=</a:t>
            </a:r>
            <a:r>
              <a:rPr sz="950" spc="-4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950" spc="-50" dirty="0">
                <a:solidFill>
                  <a:srgbClr val="FFFFFF"/>
                </a:solidFill>
                <a:latin typeface="Consolas"/>
                <a:cs typeface="Consolas"/>
              </a:rPr>
              <a:t>[</a:t>
            </a:r>
            <a:endParaRPr sz="950">
              <a:latin typeface="Consolas"/>
              <a:cs typeface="Consolas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776233" y="2174811"/>
          <a:ext cx="1786254" cy="4089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4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6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9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2715">
                <a:tc>
                  <a:txBody>
                    <a:bodyPr/>
                    <a:lstStyle/>
                    <a:p>
                      <a:pPr algn="ctr">
                        <a:lnSpc>
                          <a:spcPts val="894"/>
                        </a:lnSpc>
                      </a:pPr>
                      <a:r>
                        <a:rPr sz="950" spc="-10" dirty="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(0,1,2),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94"/>
                        </a:lnSpc>
                      </a:pPr>
                      <a:r>
                        <a:rPr sz="950" spc="-10" dirty="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(3,4,5),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894"/>
                        </a:lnSpc>
                      </a:pPr>
                      <a:r>
                        <a:rPr sz="950" spc="-10" dirty="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(6,7,8),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145">
                <a:tc>
                  <a:txBody>
                    <a:bodyPr/>
                    <a:lstStyle/>
                    <a:p>
                      <a:pPr algn="ctr">
                        <a:lnSpc>
                          <a:spcPts val="990"/>
                        </a:lnSpc>
                      </a:pPr>
                      <a:r>
                        <a:rPr sz="950" spc="-10" dirty="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(0,3,6),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90"/>
                        </a:lnSpc>
                      </a:pPr>
                      <a:r>
                        <a:rPr sz="950" spc="-10" dirty="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(1,4,7),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990"/>
                        </a:lnSpc>
                      </a:pPr>
                      <a:r>
                        <a:rPr sz="950" spc="-10" dirty="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(2,5,8),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080">
                <a:tc>
                  <a:txBody>
                    <a:bodyPr/>
                    <a:lstStyle/>
                    <a:p>
                      <a:pPr algn="ctr">
                        <a:lnSpc>
                          <a:spcPts val="944"/>
                        </a:lnSpc>
                      </a:pPr>
                      <a:r>
                        <a:rPr sz="950" spc="-10" dirty="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(0,4,8),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8419" algn="ctr">
                        <a:lnSpc>
                          <a:spcPts val="944"/>
                        </a:lnSpc>
                      </a:pPr>
                      <a:r>
                        <a:rPr sz="950" spc="-10" dirty="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(2,4,6)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530335" y="2565405"/>
            <a:ext cx="2609215" cy="894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50" dirty="0">
                <a:solidFill>
                  <a:srgbClr val="FFFFFF"/>
                </a:solidFill>
                <a:latin typeface="Consolas"/>
                <a:cs typeface="Consolas"/>
              </a:rPr>
              <a:t>]</a:t>
            </a:r>
            <a:endParaRPr sz="9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9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950" dirty="0">
                <a:solidFill>
                  <a:srgbClr val="FFFFFF"/>
                </a:solidFill>
                <a:latin typeface="Consolas"/>
                <a:cs typeface="Consolas"/>
              </a:rPr>
              <a:t>for</a:t>
            </a:r>
            <a:r>
              <a:rPr sz="950" spc="-2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FFFFFF"/>
                </a:solidFill>
                <a:latin typeface="Consolas"/>
                <a:cs typeface="Consolas"/>
              </a:rPr>
              <a:t>a,</a:t>
            </a:r>
            <a:r>
              <a:rPr sz="950" spc="-2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FFFFFF"/>
                </a:solidFill>
                <a:latin typeface="Consolas"/>
                <a:cs typeface="Consolas"/>
              </a:rPr>
              <a:t>b,</a:t>
            </a:r>
            <a:r>
              <a:rPr sz="950" spc="-2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FFFFFF"/>
                </a:solidFill>
                <a:latin typeface="Consolas"/>
                <a:cs typeface="Consolas"/>
              </a:rPr>
              <a:t>c</a:t>
            </a:r>
            <a:r>
              <a:rPr sz="950" spc="-2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FFFFFF"/>
                </a:solidFill>
                <a:latin typeface="Consolas"/>
                <a:cs typeface="Consolas"/>
              </a:rPr>
              <a:t>in</a:t>
            </a:r>
            <a:r>
              <a:rPr sz="950" spc="-2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FFFFFF"/>
                </a:solidFill>
                <a:latin typeface="Consolas"/>
                <a:cs typeface="Consolas"/>
              </a:rPr>
              <a:t>winning:</a:t>
            </a:r>
            <a:endParaRPr sz="950">
              <a:latin typeface="Consolas"/>
              <a:cs typeface="Consolas"/>
            </a:endParaRPr>
          </a:p>
          <a:p>
            <a:pPr marL="277495">
              <a:lnSpc>
                <a:spcPct val="100000"/>
              </a:lnSpc>
            </a:pPr>
            <a:r>
              <a:rPr sz="950" dirty="0">
                <a:solidFill>
                  <a:srgbClr val="FFFFFF"/>
                </a:solidFill>
                <a:latin typeface="Consolas"/>
                <a:cs typeface="Consolas"/>
              </a:rPr>
              <a:t>if</a:t>
            </a:r>
            <a:r>
              <a:rPr sz="950" spc="-5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FFFFFF"/>
                </a:solidFill>
                <a:latin typeface="Consolas"/>
                <a:cs typeface="Consolas"/>
              </a:rPr>
              <a:t>board[a]</a:t>
            </a:r>
            <a:r>
              <a:rPr sz="950" spc="-4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FFFFFF"/>
                </a:solidFill>
                <a:latin typeface="Consolas"/>
                <a:cs typeface="Consolas"/>
              </a:rPr>
              <a:t>==</a:t>
            </a:r>
            <a:r>
              <a:rPr sz="950" spc="-4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FFFFFF"/>
                </a:solidFill>
                <a:latin typeface="Consolas"/>
                <a:cs typeface="Consolas"/>
              </a:rPr>
              <a:t>board[b]</a:t>
            </a:r>
            <a:r>
              <a:rPr sz="950" spc="-4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FFFFFF"/>
                </a:solidFill>
                <a:latin typeface="Consolas"/>
                <a:cs typeface="Consolas"/>
              </a:rPr>
              <a:t>==</a:t>
            </a:r>
            <a:r>
              <a:rPr sz="950" spc="-4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FFFFFF"/>
                </a:solidFill>
                <a:latin typeface="Consolas"/>
                <a:cs typeface="Consolas"/>
              </a:rPr>
              <a:t>board[c]</a:t>
            </a:r>
            <a:endParaRPr sz="9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950" dirty="0">
                <a:solidFill>
                  <a:srgbClr val="FFFFFF"/>
                </a:solidFill>
                <a:latin typeface="Consolas"/>
                <a:cs typeface="Consolas"/>
              </a:rPr>
              <a:t>!=</a:t>
            </a:r>
            <a:r>
              <a:rPr sz="950" spc="-2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FFFFFF"/>
                </a:solidFill>
                <a:latin typeface="Consolas"/>
                <a:cs typeface="Consolas"/>
              </a:rPr>
              <a:t>"</a:t>
            </a:r>
            <a:r>
              <a:rPr sz="950" spc="-1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950" spc="-35" dirty="0">
                <a:solidFill>
                  <a:srgbClr val="FFFFFF"/>
                </a:solidFill>
                <a:latin typeface="Consolas"/>
                <a:cs typeface="Consolas"/>
              </a:rPr>
              <a:t>":</a:t>
            </a:r>
            <a:endParaRPr sz="950">
              <a:latin typeface="Consolas"/>
              <a:cs typeface="Consolas"/>
            </a:endParaRPr>
          </a:p>
          <a:p>
            <a:pPr marL="542290">
              <a:lnSpc>
                <a:spcPct val="100000"/>
              </a:lnSpc>
            </a:pPr>
            <a:r>
              <a:rPr sz="950" dirty="0">
                <a:solidFill>
                  <a:srgbClr val="FFFFFF"/>
                </a:solidFill>
                <a:latin typeface="Consolas"/>
                <a:cs typeface="Consolas"/>
              </a:rPr>
              <a:t>winner</a:t>
            </a:r>
            <a:r>
              <a:rPr sz="950" spc="-4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FFFFFF"/>
                </a:solidFill>
                <a:latin typeface="Consolas"/>
                <a:cs typeface="Consolas"/>
              </a:rPr>
              <a:t>=</a:t>
            </a:r>
            <a:r>
              <a:rPr sz="950" spc="-3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FFFFFF"/>
                </a:solidFill>
                <a:latin typeface="Consolas"/>
                <a:cs typeface="Consolas"/>
              </a:rPr>
              <a:t>board[a]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83025" y="1576578"/>
            <a:ext cx="4498340" cy="2463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9060">
              <a:lnSpc>
                <a:spcPct val="100000"/>
              </a:lnSpc>
              <a:spcBef>
                <a:spcPts val="100"/>
              </a:spcBef>
              <a:buChar char="•"/>
              <a:tabLst>
                <a:tab pos="111760" algn="l"/>
              </a:tabLst>
            </a:pPr>
            <a:r>
              <a:rPr sz="1250" dirty="0">
                <a:solidFill>
                  <a:srgbClr val="232323"/>
                </a:solidFill>
                <a:latin typeface="Arial MT"/>
                <a:cs typeface="Arial MT"/>
              </a:rPr>
              <a:t>Functions</a:t>
            </a:r>
            <a:r>
              <a:rPr sz="1250" spc="-3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250" spc="-10" dirty="0">
                <a:solidFill>
                  <a:srgbClr val="232323"/>
                </a:solidFill>
                <a:latin typeface="Arial MT"/>
                <a:cs typeface="Arial MT"/>
              </a:rPr>
              <a:t>organize</a:t>
            </a:r>
            <a:r>
              <a:rPr sz="1250" spc="-3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232323"/>
                </a:solidFill>
                <a:latin typeface="Arial MT"/>
                <a:cs typeface="Arial MT"/>
              </a:rPr>
              <a:t>tasks</a:t>
            </a:r>
            <a:r>
              <a:rPr sz="1250" spc="-3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232323"/>
                </a:solidFill>
                <a:latin typeface="Arial MT"/>
                <a:cs typeface="Arial MT"/>
              </a:rPr>
              <a:t>such</a:t>
            </a:r>
            <a:r>
              <a:rPr sz="1250" spc="-3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232323"/>
                </a:solidFill>
                <a:latin typeface="Arial MT"/>
                <a:cs typeface="Arial MT"/>
              </a:rPr>
              <a:t>as</a:t>
            </a:r>
            <a:r>
              <a:rPr sz="1250" spc="-3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250" spc="-10" dirty="0">
                <a:solidFill>
                  <a:srgbClr val="232323"/>
                </a:solidFill>
                <a:latin typeface="Arial MT"/>
                <a:cs typeface="Arial MT"/>
              </a:rPr>
              <a:t>display_board(),</a:t>
            </a:r>
            <a:r>
              <a:rPr sz="1250" spc="-3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250" spc="-10" dirty="0">
                <a:solidFill>
                  <a:srgbClr val="232323"/>
                </a:solidFill>
                <a:latin typeface="Arial MT"/>
                <a:cs typeface="Arial MT"/>
              </a:rPr>
              <a:t>get_move() </a:t>
            </a:r>
            <a:r>
              <a:rPr sz="1250" dirty="0">
                <a:solidFill>
                  <a:srgbClr val="232323"/>
                </a:solidFill>
                <a:latin typeface="Arial MT"/>
                <a:cs typeface="Arial MT"/>
              </a:rPr>
              <a:t>and</a:t>
            </a:r>
            <a:r>
              <a:rPr sz="1250" spc="-4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250" spc="-10" dirty="0">
                <a:solidFill>
                  <a:srgbClr val="232323"/>
                </a:solidFill>
                <a:latin typeface="Arial MT"/>
                <a:cs typeface="Arial MT"/>
              </a:rPr>
              <a:t>check_winner().</a:t>
            </a:r>
            <a:endParaRPr sz="1250">
              <a:latin typeface="Arial MT"/>
              <a:cs typeface="Arial MT"/>
            </a:endParaRPr>
          </a:p>
          <a:p>
            <a:pPr marL="12700" marR="374015" indent="99060">
              <a:lnSpc>
                <a:spcPct val="100000"/>
              </a:lnSpc>
              <a:spcBef>
                <a:spcPts val="700"/>
              </a:spcBef>
              <a:buChar char="•"/>
              <a:tabLst>
                <a:tab pos="111760" algn="l"/>
              </a:tabLst>
            </a:pPr>
            <a:r>
              <a:rPr sz="1250" dirty="0">
                <a:solidFill>
                  <a:srgbClr val="232323"/>
                </a:solidFill>
                <a:latin typeface="Arial MT"/>
                <a:cs typeface="Arial MT"/>
              </a:rPr>
              <a:t>while</a:t>
            </a:r>
            <a:r>
              <a:rPr sz="1250" spc="-4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232323"/>
                </a:solidFill>
                <a:latin typeface="Arial MT"/>
                <a:cs typeface="Arial MT"/>
              </a:rPr>
              <a:t>loops</a:t>
            </a:r>
            <a:r>
              <a:rPr sz="1250" spc="-4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232323"/>
                </a:solidFill>
                <a:latin typeface="Arial MT"/>
                <a:cs typeface="Arial MT"/>
              </a:rPr>
              <a:t>keep</a:t>
            </a:r>
            <a:r>
              <a:rPr sz="1250" spc="-4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232323"/>
                </a:solidFill>
                <a:latin typeface="Arial MT"/>
                <a:cs typeface="Arial MT"/>
              </a:rPr>
              <a:t>the</a:t>
            </a:r>
            <a:r>
              <a:rPr sz="1250" spc="-4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232323"/>
                </a:solidFill>
                <a:latin typeface="Arial MT"/>
                <a:cs typeface="Arial MT"/>
              </a:rPr>
              <a:t>game</a:t>
            </a:r>
            <a:r>
              <a:rPr sz="1250" spc="-4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232323"/>
                </a:solidFill>
                <a:latin typeface="Arial MT"/>
                <a:cs typeface="Arial MT"/>
              </a:rPr>
              <a:t>running</a:t>
            </a:r>
            <a:r>
              <a:rPr sz="1250" spc="-4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232323"/>
                </a:solidFill>
                <a:latin typeface="Arial MT"/>
                <a:cs typeface="Arial MT"/>
              </a:rPr>
              <a:t>until</a:t>
            </a:r>
            <a:r>
              <a:rPr sz="1250" spc="-4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232323"/>
                </a:solidFill>
                <a:latin typeface="Arial MT"/>
                <a:cs typeface="Arial MT"/>
              </a:rPr>
              <a:t>a</a:t>
            </a:r>
            <a:r>
              <a:rPr sz="1250" spc="-4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232323"/>
                </a:solidFill>
                <a:latin typeface="Arial MT"/>
                <a:cs typeface="Arial MT"/>
              </a:rPr>
              <a:t>winner</a:t>
            </a:r>
            <a:r>
              <a:rPr sz="1250" spc="-4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232323"/>
                </a:solidFill>
                <a:latin typeface="Arial MT"/>
                <a:cs typeface="Arial MT"/>
              </a:rPr>
              <a:t>or</a:t>
            </a:r>
            <a:r>
              <a:rPr sz="1250" spc="-4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250" spc="-20" dirty="0">
                <a:solidFill>
                  <a:srgbClr val="232323"/>
                </a:solidFill>
                <a:latin typeface="Arial MT"/>
                <a:cs typeface="Arial MT"/>
              </a:rPr>
              <a:t>draw </a:t>
            </a:r>
            <a:r>
              <a:rPr sz="1250" spc="-10" dirty="0">
                <a:solidFill>
                  <a:srgbClr val="232323"/>
                </a:solidFill>
                <a:latin typeface="Arial MT"/>
                <a:cs typeface="Arial MT"/>
              </a:rPr>
              <a:t>occurs.</a:t>
            </a:r>
            <a:endParaRPr sz="1250">
              <a:latin typeface="Arial MT"/>
              <a:cs typeface="Arial MT"/>
            </a:endParaRPr>
          </a:p>
          <a:p>
            <a:pPr marL="12700" marR="525780" indent="99060">
              <a:lnSpc>
                <a:spcPct val="100000"/>
              </a:lnSpc>
              <a:spcBef>
                <a:spcPts val="700"/>
              </a:spcBef>
              <a:buChar char="•"/>
              <a:tabLst>
                <a:tab pos="111760" algn="l"/>
              </a:tabLst>
            </a:pPr>
            <a:r>
              <a:rPr sz="1250" dirty="0">
                <a:solidFill>
                  <a:srgbClr val="232323"/>
                </a:solidFill>
                <a:latin typeface="Arial MT"/>
                <a:cs typeface="Arial MT"/>
              </a:rPr>
              <a:t>if</a:t>
            </a:r>
            <a:r>
              <a:rPr sz="1250" spc="-3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232323"/>
                </a:solidFill>
                <a:latin typeface="Arial MT"/>
                <a:cs typeface="Arial MT"/>
              </a:rPr>
              <a:t>/</a:t>
            </a:r>
            <a:r>
              <a:rPr sz="1250" spc="-3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232323"/>
                </a:solidFill>
                <a:latin typeface="Arial MT"/>
                <a:cs typeface="Arial MT"/>
              </a:rPr>
              <a:t>elif</a:t>
            </a:r>
            <a:r>
              <a:rPr sz="1250" spc="-3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232323"/>
                </a:solidFill>
                <a:latin typeface="Arial MT"/>
                <a:cs typeface="Arial MT"/>
              </a:rPr>
              <a:t>/</a:t>
            </a:r>
            <a:r>
              <a:rPr sz="1250" spc="-3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232323"/>
                </a:solidFill>
                <a:latin typeface="Arial MT"/>
                <a:cs typeface="Arial MT"/>
              </a:rPr>
              <a:t>else</a:t>
            </a:r>
            <a:r>
              <a:rPr sz="1250" spc="-2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232323"/>
                </a:solidFill>
                <a:latin typeface="Arial MT"/>
                <a:cs typeface="Arial MT"/>
              </a:rPr>
              <a:t>handle</a:t>
            </a:r>
            <a:r>
              <a:rPr sz="1250" spc="-3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250" spc="-10" dirty="0">
                <a:solidFill>
                  <a:srgbClr val="232323"/>
                </a:solidFill>
                <a:latin typeface="Arial MT"/>
                <a:cs typeface="Arial MT"/>
              </a:rPr>
              <a:t>validation,</a:t>
            </a:r>
            <a:r>
              <a:rPr sz="1250" spc="-3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232323"/>
                </a:solidFill>
                <a:latin typeface="Arial MT"/>
                <a:cs typeface="Arial MT"/>
              </a:rPr>
              <a:t>win</a:t>
            </a:r>
            <a:r>
              <a:rPr sz="1250" spc="-3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232323"/>
                </a:solidFill>
                <a:latin typeface="Arial MT"/>
                <a:cs typeface="Arial MT"/>
              </a:rPr>
              <a:t>conditions</a:t>
            </a:r>
            <a:r>
              <a:rPr sz="1250" spc="-2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232323"/>
                </a:solidFill>
                <a:latin typeface="Arial MT"/>
                <a:cs typeface="Arial MT"/>
              </a:rPr>
              <a:t>and</a:t>
            </a:r>
            <a:r>
              <a:rPr sz="1250" spc="-3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250" spc="-20" dirty="0">
                <a:solidFill>
                  <a:srgbClr val="232323"/>
                </a:solidFill>
                <a:latin typeface="Arial MT"/>
                <a:cs typeface="Arial MT"/>
              </a:rPr>
              <a:t>draw </a:t>
            </a:r>
            <a:r>
              <a:rPr sz="1250" spc="-10" dirty="0">
                <a:solidFill>
                  <a:srgbClr val="232323"/>
                </a:solidFill>
                <a:latin typeface="Arial MT"/>
                <a:cs typeface="Arial MT"/>
              </a:rPr>
              <a:t>conditions.</a:t>
            </a:r>
            <a:endParaRPr sz="1250">
              <a:latin typeface="Arial MT"/>
              <a:cs typeface="Arial MT"/>
            </a:endParaRPr>
          </a:p>
          <a:p>
            <a:pPr marL="111760" indent="-99060">
              <a:lnSpc>
                <a:spcPct val="100000"/>
              </a:lnSpc>
              <a:spcBef>
                <a:spcPts val="700"/>
              </a:spcBef>
              <a:buChar char="•"/>
              <a:tabLst>
                <a:tab pos="111760" algn="l"/>
              </a:tabLst>
            </a:pPr>
            <a:r>
              <a:rPr sz="1250" dirty="0">
                <a:solidFill>
                  <a:srgbClr val="232323"/>
                </a:solidFill>
                <a:latin typeface="Arial MT"/>
                <a:cs typeface="Arial MT"/>
              </a:rPr>
              <a:t>for</a:t>
            </a:r>
            <a:r>
              <a:rPr sz="1250" spc="-5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232323"/>
                </a:solidFill>
                <a:latin typeface="Arial MT"/>
                <a:cs typeface="Arial MT"/>
              </a:rPr>
              <a:t>loops</a:t>
            </a:r>
            <a:r>
              <a:rPr sz="1250" spc="-5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232323"/>
                </a:solidFill>
                <a:latin typeface="Arial MT"/>
                <a:cs typeface="Arial MT"/>
              </a:rPr>
              <a:t>check</a:t>
            </a:r>
            <a:r>
              <a:rPr sz="1250" spc="-5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232323"/>
                </a:solidFill>
                <a:latin typeface="Arial MT"/>
                <a:cs typeface="Arial MT"/>
              </a:rPr>
              <a:t>every</a:t>
            </a:r>
            <a:r>
              <a:rPr sz="1250" spc="-4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232323"/>
                </a:solidFill>
                <a:latin typeface="Arial MT"/>
                <a:cs typeface="Arial MT"/>
              </a:rPr>
              <a:t>possible</a:t>
            </a:r>
            <a:r>
              <a:rPr sz="1250" spc="-5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232323"/>
                </a:solidFill>
                <a:latin typeface="Arial MT"/>
                <a:cs typeface="Arial MT"/>
              </a:rPr>
              <a:t>winning</a:t>
            </a:r>
            <a:r>
              <a:rPr sz="1250" spc="-5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250" spc="-10" dirty="0">
                <a:solidFill>
                  <a:srgbClr val="232323"/>
                </a:solidFill>
                <a:latin typeface="Arial MT"/>
                <a:cs typeface="Arial MT"/>
              </a:rPr>
              <a:t>combination.</a:t>
            </a:r>
            <a:endParaRPr sz="1250">
              <a:latin typeface="Arial MT"/>
              <a:cs typeface="Arial MT"/>
            </a:endParaRPr>
          </a:p>
          <a:p>
            <a:pPr marL="111760" indent="-99060">
              <a:lnSpc>
                <a:spcPct val="100000"/>
              </a:lnSpc>
              <a:spcBef>
                <a:spcPts val="700"/>
              </a:spcBef>
              <a:buChar char="•"/>
              <a:tabLst>
                <a:tab pos="111760" algn="l"/>
              </a:tabLst>
            </a:pPr>
            <a:r>
              <a:rPr sz="1250" dirty="0">
                <a:solidFill>
                  <a:srgbClr val="232323"/>
                </a:solidFill>
                <a:latin typeface="Arial MT"/>
                <a:cs typeface="Arial MT"/>
              </a:rPr>
              <a:t>Input</a:t>
            </a:r>
            <a:r>
              <a:rPr sz="1250" spc="-3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232323"/>
                </a:solidFill>
                <a:latin typeface="Arial MT"/>
                <a:cs typeface="Arial MT"/>
              </a:rPr>
              <a:t>is</a:t>
            </a:r>
            <a:r>
              <a:rPr sz="1250" spc="-2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250" spc="-10" dirty="0">
                <a:solidFill>
                  <a:srgbClr val="232323"/>
                </a:solidFill>
                <a:latin typeface="Arial MT"/>
                <a:cs typeface="Arial MT"/>
              </a:rPr>
              <a:t>converted</a:t>
            </a:r>
            <a:r>
              <a:rPr sz="1250" spc="-3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232323"/>
                </a:solidFill>
                <a:latin typeface="Arial MT"/>
                <a:cs typeface="Arial MT"/>
              </a:rPr>
              <a:t>and</a:t>
            </a:r>
            <a:r>
              <a:rPr sz="1250" spc="-2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250" spc="-10" dirty="0">
                <a:solidFill>
                  <a:srgbClr val="232323"/>
                </a:solidFill>
                <a:latin typeface="Arial MT"/>
                <a:cs typeface="Arial MT"/>
              </a:rPr>
              <a:t>validated</a:t>
            </a:r>
            <a:r>
              <a:rPr sz="1250" spc="-2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232323"/>
                </a:solidFill>
                <a:latin typeface="Arial MT"/>
                <a:cs typeface="Arial MT"/>
              </a:rPr>
              <a:t>before</a:t>
            </a:r>
            <a:r>
              <a:rPr sz="1250" spc="-3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250" spc="-10" dirty="0">
                <a:solidFill>
                  <a:srgbClr val="232323"/>
                </a:solidFill>
                <a:latin typeface="Arial MT"/>
                <a:cs typeface="Arial MT"/>
              </a:rPr>
              <a:t>updating</a:t>
            </a:r>
            <a:r>
              <a:rPr sz="1250" spc="-2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232323"/>
                </a:solidFill>
                <a:latin typeface="Arial MT"/>
                <a:cs typeface="Arial MT"/>
              </a:rPr>
              <a:t>the</a:t>
            </a:r>
            <a:r>
              <a:rPr sz="1250" spc="-3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250" spc="-10" dirty="0">
                <a:solidFill>
                  <a:srgbClr val="232323"/>
                </a:solidFill>
                <a:latin typeface="Arial MT"/>
                <a:cs typeface="Arial MT"/>
              </a:rPr>
              <a:t>board.</a:t>
            </a:r>
            <a:endParaRPr sz="1250">
              <a:latin typeface="Arial MT"/>
              <a:cs typeface="Arial MT"/>
            </a:endParaRPr>
          </a:p>
          <a:p>
            <a:pPr marL="111760" indent="-99060">
              <a:lnSpc>
                <a:spcPct val="100000"/>
              </a:lnSpc>
              <a:spcBef>
                <a:spcPts val="700"/>
              </a:spcBef>
              <a:buChar char="•"/>
              <a:tabLst>
                <a:tab pos="111760" algn="l"/>
              </a:tabLst>
            </a:pPr>
            <a:r>
              <a:rPr sz="1250" dirty="0">
                <a:solidFill>
                  <a:srgbClr val="232323"/>
                </a:solidFill>
                <a:latin typeface="Arial MT"/>
                <a:cs typeface="Arial MT"/>
              </a:rPr>
              <a:t>The</a:t>
            </a:r>
            <a:r>
              <a:rPr sz="1250" spc="-4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250" spc="-10" dirty="0">
                <a:solidFill>
                  <a:srgbClr val="232323"/>
                </a:solidFill>
                <a:latin typeface="Arial MT"/>
                <a:cs typeface="Arial MT"/>
              </a:rPr>
              <a:t>current-</a:t>
            </a:r>
            <a:r>
              <a:rPr sz="1250" dirty="0">
                <a:solidFill>
                  <a:srgbClr val="232323"/>
                </a:solidFill>
                <a:latin typeface="Arial MT"/>
                <a:cs typeface="Arial MT"/>
              </a:rPr>
              <a:t>player</a:t>
            </a:r>
            <a:r>
              <a:rPr sz="1250" spc="-4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232323"/>
                </a:solidFill>
                <a:latin typeface="Arial MT"/>
                <a:cs typeface="Arial MT"/>
              </a:rPr>
              <a:t>variable</a:t>
            </a:r>
            <a:r>
              <a:rPr sz="1250" spc="-4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232323"/>
                </a:solidFill>
                <a:latin typeface="Arial MT"/>
                <a:cs typeface="Arial MT"/>
              </a:rPr>
              <a:t>switches</a:t>
            </a:r>
            <a:r>
              <a:rPr sz="1250" spc="-4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232323"/>
                </a:solidFill>
                <a:latin typeface="Arial MT"/>
                <a:cs typeface="Arial MT"/>
              </a:rPr>
              <a:t>between</a:t>
            </a:r>
            <a:r>
              <a:rPr sz="1250" spc="-4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232323"/>
                </a:solidFill>
                <a:latin typeface="Arial MT"/>
                <a:cs typeface="Arial MT"/>
              </a:rPr>
              <a:t>X</a:t>
            </a:r>
            <a:r>
              <a:rPr sz="1250" spc="-4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232323"/>
                </a:solidFill>
                <a:latin typeface="Arial MT"/>
                <a:cs typeface="Arial MT"/>
              </a:rPr>
              <a:t>and</a:t>
            </a:r>
            <a:r>
              <a:rPr sz="1250" spc="-4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250" spc="-25" dirty="0">
                <a:solidFill>
                  <a:srgbClr val="232323"/>
                </a:solidFill>
                <a:latin typeface="Arial MT"/>
                <a:cs typeface="Arial MT"/>
              </a:rPr>
              <a:t>O.</a:t>
            </a:r>
            <a:endParaRPr sz="1250">
              <a:latin typeface="Arial MT"/>
              <a:cs typeface="Arial MT"/>
            </a:endParaRPr>
          </a:p>
          <a:p>
            <a:pPr marL="111760" indent="-99060">
              <a:lnSpc>
                <a:spcPct val="100000"/>
              </a:lnSpc>
              <a:spcBef>
                <a:spcPts val="700"/>
              </a:spcBef>
              <a:buChar char="•"/>
              <a:tabLst>
                <a:tab pos="111760" algn="l"/>
              </a:tabLst>
            </a:pPr>
            <a:r>
              <a:rPr sz="1250" dirty="0">
                <a:solidFill>
                  <a:srgbClr val="232323"/>
                </a:solidFill>
                <a:latin typeface="Arial MT"/>
                <a:cs typeface="Arial MT"/>
              </a:rPr>
              <a:t>Lists</a:t>
            </a:r>
            <a:r>
              <a:rPr sz="1250" spc="-3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250" spc="-10" dirty="0">
                <a:solidFill>
                  <a:srgbClr val="232323"/>
                </a:solidFill>
                <a:latin typeface="Arial MT"/>
                <a:cs typeface="Arial MT"/>
              </a:rPr>
              <a:t>represent</a:t>
            </a:r>
            <a:r>
              <a:rPr sz="1250" spc="-3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232323"/>
                </a:solidFill>
                <a:latin typeface="Arial MT"/>
                <a:cs typeface="Arial MT"/>
              </a:rPr>
              <a:t>the</a:t>
            </a:r>
            <a:r>
              <a:rPr sz="1250" spc="-3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232323"/>
                </a:solidFill>
                <a:latin typeface="Arial MT"/>
                <a:cs typeface="Arial MT"/>
              </a:rPr>
              <a:t>nine</a:t>
            </a:r>
            <a:r>
              <a:rPr sz="1250" spc="-3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232323"/>
                </a:solidFill>
                <a:latin typeface="Arial MT"/>
                <a:cs typeface="Arial MT"/>
              </a:rPr>
              <a:t>board</a:t>
            </a:r>
            <a:r>
              <a:rPr sz="1250" spc="-3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250" spc="-10" dirty="0">
                <a:solidFill>
                  <a:srgbClr val="232323"/>
                </a:solidFill>
                <a:latin typeface="Arial MT"/>
                <a:cs typeface="Arial MT"/>
              </a:rPr>
              <a:t>positions.</a:t>
            </a:r>
            <a:endParaRPr sz="12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414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/>
              <a:t>6.</a:t>
            </a:r>
            <a:r>
              <a:rPr spc="-70" dirty="0"/>
              <a:t> </a:t>
            </a:r>
            <a:r>
              <a:rPr dirty="0"/>
              <a:t>Graphical</a:t>
            </a:r>
            <a:r>
              <a:rPr spc="-70" dirty="0"/>
              <a:t> </a:t>
            </a:r>
            <a:r>
              <a:rPr dirty="0"/>
              <a:t>Representation</a:t>
            </a:r>
            <a:r>
              <a:rPr spc="-70" dirty="0"/>
              <a:t> </a:t>
            </a:r>
            <a:r>
              <a:rPr dirty="0"/>
              <a:t>and</a:t>
            </a:r>
            <a:r>
              <a:rPr spc="-70" dirty="0"/>
              <a:t> </a:t>
            </a:r>
            <a:r>
              <a:rPr spc="-10" dirty="0"/>
              <a:t>Working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3847" y="779005"/>
            <a:ext cx="8276302" cy="52577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7.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GitHub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Account,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Repository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&amp;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Collaboration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02507" y="1277687"/>
            <a:ext cx="7148830" cy="240347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385445" indent="-372110">
              <a:lnSpc>
                <a:spcPct val="100000"/>
              </a:lnSpc>
              <a:spcBef>
                <a:spcPts val="390"/>
              </a:spcBef>
              <a:buChar char="●"/>
              <a:tabLst>
                <a:tab pos="385445" algn="l"/>
              </a:tabLst>
            </a:pPr>
            <a:r>
              <a:rPr sz="1600" dirty="0">
                <a:latin typeface="Arial MT"/>
                <a:cs typeface="Arial MT"/>
              </a:rPr>
              <a:t>Create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GitHub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Account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–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Set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up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personal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GitHub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account.</a:t>
            </a:r>
            <a:endParaRPr sz="1600">
              <a:latin typeface="Arial MT"/>
              <a:cs typeface="Arial MT"/>
            </a:endParaRPr>
          </a:p>
          <a:p>
            <a:pPr marL="385445" indent="-372110">
              <a:lnSpc>
                <a:spcPct val="100000"/>
              </a:lnSpc>
              <a:spcBef>
                <a:spcPts val="290"/>
              </a:spcBef>
              <a:buChar char="●"/>
              <a:tabLst>
                <a:tab pos="385445" algn="l"/>
              </a:tabLst>
            </a:pPr>
            <a:r>
              <a:rPr sz="1600" dirty="0">
                <a:latin typeface="Arial MT"/>
                <a:cs typeface="Arial MT"/>
              </a:rPr>
              <a:t>Create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Repository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–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Tie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Tac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Game.</a:t>
            </a:r>
            <a:endParaRPr sz="1600">
              <a:latin typeface="Times New Roman"/>
              <a:cs typeface="Times New Roman"/>
            </a:endParaRPr>
          </a:p>
          <a:p>
            <a:pPr marL="385445" indent="-372110">
              <a:lnSpc>
                <a:spcPct val="100000"/>
              </a:lnSpc>
              <a:spcBef>
                <a:spcPts val="285"/>
              </a:spcBef>
              <a:buChar char="●"/>
              <a:tabLst>
                <a:tab pos="385445" algn="l"/>
              </a:tabLst>
            </a:pPr>
            <a:r>
              <a:rPr sz="1600" dirty="0">
                <a:latin typeface="Arial MT"/>
                <a:cs typeface="Arial MT"/>
              </a:rPr>
              <a:t>Upload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Code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–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Upload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Python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project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files.</a:t>
            </a:r>
            <a:endParaRPr sz="1600">
              <a:latin typeface="Arial MT"/>
              <a:cs typeface="Arial MT"/>
            </a:endParaRPr>
          </a:p>
          <a:p>
            <a:pPr marL="385445" indent="-372110">
              <a:lnSpc>
                <a:spcPct val="100000"/>
              </a:lnSpc>
              <a:spcBef>
                <a:spcPts val="290"/>
              </a:spcBef>
              <a:buChar char="●"/>
              <a:tabLst>
                <a:tab pos="385445" algn="l"/>
              </a:tabLst>
            </a:pPr>
            <a:r>
              <a:rPr sz="1600" dirty="0">
                <a:latin typeface="Arial MT"/>
                <a:cs typeface="Arial MT"/>
              </a:rPr>
              <a:t>Meaningful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Commits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–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Save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changes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with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clear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commit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messages.</a:t>
            </a:r>
            <a:endParaRPr sz="1600">
              <a:latin typeface="Arial MT"/>
              <a:cs typeface="Arial MT"/>
            </a:endParaRPr>
          </a:p>
          <a:p>
            <a:pPr marL="385445" indent="-372745">
              <a:lnSpc>
                <a:spcPct val="100000"/>
              </a:lnSpc>
              <a:spcBef>
                <a:spcPts val="50"/>
              </a:spcBef>
              <a:buChar char="●"/>
              <a:tabLst>
                <a:tab pos="385445" algn="l"/>
              </a:tabLst>
            </a:pPr>
            <a:r>
              <a:rPr sz="1600" dirty="0">
                <a:latin typeface="Arial MT"/>
                <a:cs typeface="Arial MT"/>
              </a:rPr>
              <a:t>Collaboration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–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For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teamwork,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use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repository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sharing,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branches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or</a:t>
            </a:r>
            <a:r>
              <a:rPr sz="1600" spc="-20" dirty="0">
                <a:latin typeface="Arial MT"/>
                <a:cs typeface="Arial MT"/>
              </a:rPr>
              <a:t> pull</a:t>
            </a:r>
            <a:endParaRPr sz="1600">
              <a:latin typeface="Arial MT"/>
              <a:cs typeface="Arial MT"/>
            </a:endParaRPr>
          </a:p>
          <a:p>
            <a:pPr marL="385445">
              <a:lnSpc>
                <a:spcPct val="100000"/>
              </a:lnSpc>
              <a:spcBef>
                <a:spcPts val="840"/>
              </a:spcBef>
            </a:pPr>
            <a:r>
              <a:rPr sz="1600" spc="-10" dirty="0">
                <a:latin typeface="Arial MT"/>
                <a:cs typeface="Arial MT"/>
              </a:rPr>
              <a:t>requests.</a:t>
            </a:r>
            <a:endParaRPr sz="1600">
              <a:latin typeface="Arial MT"/>
              <a:cs typeface="Arial MT"/>
            </a:endParaRPr>
          </a:p>
          <a:p>
            <a:pPr marL="385445" indent="-372110">
              <a:lnSpc>
                <a:spcPct val="100000"/>
              </a:lnSpc>
              <a:spcBef>
                <a:spcPts val="1030"/>
              </a:spcBef>
              <a:buChar char="●"/>
              <a:tabLst>
                <a:tab pos="385445" algn="l"/>
              </a:tabLst>
            </a:pPr>
            <a:r>
              <a:rPr sz="1600" dirty="0">
                <a:latin typeface="Arial MT"/>
                <a:cs typeface="Arial MT"/>
              </a:rPr>
              <a:t>Individual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Contribution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–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Each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member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contributes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commits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their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work.</a:t>
            </a:r>
            <a:endParaRPr sz="1600">
              <a:latin typeface="Arial MT"/>
              <a:cs typeface="Arial MT"/>
            </a:endParaRPr>
          </a:p>
          <a:p>
            <a:pPr marL="385445" indent="-372110">
              <a:lnSpc>
                <a:spcPct val="100000"/>
              </a:lnSpc>
              <a:spcBef>
                <a:spcPts val="290"/>
              </a:spcBef>
              <a:buChar char="●"/>
              <a:tabLst>
                <a:tab pos="385445" algn="l"/>
              </a:tabLst>
            </a:pPr>
            <a:r>
              <a:rPr sz="1600" dirty="0">
                <a:latin typeface="Arial MT"/>
                <a:cs typeface="Arial MT"/>
              </a:rPr>
              <a:t>Track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Changes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–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Use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GitHub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manage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track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project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updates.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108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2900" dirty="0">
                <a:latin typeface="Calibri"/>
                <a:cs typeface="Calibri"/>
              </a:rPr>
              <a:t>8.</a:t>
            </a:r>
            <a:r>
              <a:rPr sz="2900" spc="-4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Individual</a:t>
            </a:r>
            <a:r>
              <a:rPr sz="2900" spc="-40" dirty="0">
                <a:latin typeface="Calibri"/>
                <a:cs typeface="Calibri"/>
              </a:rPr>
              <a:t> </a:t>
            </a:r>
            <a:r>
              <a:rPr sz="2900" spc="-10" dirty="0">
                <a:latin typeface="Calibri"/>
                <a:cs typeface="Calibri"/>
              </a:rPr>
              <a:t>Contribution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52095" indent="127635">
              <a:lnSpc>
                <a:spcPct val="100000"/>
              </a:lnSpc>
              <a:spcBef>
                <a:spcPts val="100"/>
              </a:spcBef>
              <a:buChar char="•"/>
              <a:tabLst>
                <a:tab pos="140335" algn="l"/>
              </a:tabLst>
            </a:pPr>
            <a:r>
              <a:rPr dirty="0"/>
              <a:t>Problem</a:t>
            </a:r>
            <a:r>
              <a:rPr spc="-20" dirty="0"/>
              <a:t> </a:t>
            </a:r>
            <a:r>
              <a:rPr dirty="0"/>
              <a:t>Analysis</a:t>
            </a:r>
            <a:r>
              <a:rPr spc="-20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dirty="0"/>
              <a:t>Understood</a:t>
            </a:r>
            <a:r>
              <a:rPr spc="-20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/>
              <a:t>requirements</a:t>
            </a:r>
            <a:r>
              <a:rPr spc="-20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Tic</a:t>
            </a:r>
            <a:r>
              <a:rPr spc="-20" dirty="0"/>
              <a:t> </a:t>
            </a:r>
            <a:r>
              <a:rPr dirty="0"/>
              <a:t>Tac</a:t>
            </a:r>
            <a:r>
              <a:rPr spc="-15" dirty="0"/>
              <a:t> </a:t>
            </a:r>
            <a:r>
              <a:rPr spc="-25" dirty="0"/>
              <a:t>Toe </a:t>
            </a:r>
            <a:r>
              <a:rPr spc="-10" dirty="0"/>
              <a:t>game.</a:t>
            </a:r>
          </a:p>
          <a:p>
            <a:pPr marL="12700" marR="378460" indent="127635">
              <a:lnSpc>
                <a:spcPct val="100000"/>
              </a:lnSpc>
              <a:spcBef>
                <a:spcPts val="700"/>
              </a:spcBef>
              <a:buChar char="•"/>
              <a:tabLst>
                <a:tab pos="140335" algn="l"/>
              </a:tabLst>
            </a:pPr>
            <a:r>
              <a:rPr dirty="0"/>
              <a:t>Algorithm</a:t>
            </a:r>
            <a:r>
              <a:rPr spc="-35" dirty="0"/>
              <a:t> </a:t>
            </a:r>
            <a:r>
              <a:rPr dirty="0"/>
              <a:t>Design</a:t>
            </a:r>
            <a:r>
              <a:rPr spc="-35" dirty="0"/>
              <a:t> </a:t>
            </a:r>
            <a:r>
              <a:rPr dirty="0"/>
              <a:t>–</a:t>
            </a:r>
            <a:r>
              <a:rPr spc="-35" dirty="0"/>
              <a:t> </a:t>
            </a:r>
            <a:r>
              <a:rPr dirty="0"/>
              <a:t>Designed</a:t>
            </a:r>
            <a:r>
              <a:rPr spc="-35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steps</a:t>
            </a:r>
            <a:r>
              <a:rPr spc="-35" dirty="0"/>
              <a:t> </a:t>
            </a:r>
            <a:r>
              <a:rPr dirty="0"/>
              <a:t>for</a:t>
            </a:r>
            <a:r>
              <a:rPr spc="-35" dirty="0"/>
              <a:t> </a:t>
            </a:r>
            <a:r>
              <a:rPr dirty="0"/>
              <a:t>turns,</a:t>
            </a:r>
            <a:r>
              <a:rPr spc="-30" dirty="0"/>
              <a:t> </a:t>
            </a:r>
            <a:r>
              <a:rPr dirty="0"/>
              <a:t>validation,</a:t>
            </a:r>
            <a:r>
              <a:rPr spc="-35" dirty="0"/>
              <a:t> </a:t>
            </a:r>
            <a:r>
              <a:rPr spc="-10" dirty="0"/>
              <a:t>winner </a:t>
            </a:r>
            <a:r>
              <a:rPr dirty="0"/>
              <a:t>detection</a:t>
            </a:r>
            <a:r>
              <a:rPr spc="-30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dirty="0"/>
              <a:t>draw</a:t>
            </a:r>
            <a:r>
              <a:rPr spc="-25" dirty="0"/>
              <a:t> </a:t>
            </a:r>
            <a:r>
              <a:rPr spc="-10" dirty="0"/>
              <a:t>handling.</a:t>
            </a:r>
          </a:p>
          <a:p>
            <a:pPr marL="12700" marR="60325" indent="127635">
              <a:lnSpc>
                <a:spcPct val="100000"/>
              </a:lnSpc>
              <a:spcBef>
                <a:spcPts val="700"/>
              </a:spcBef>
              <a:buChar char="•"/>
              <a:tabLst>
                <a:tab pos="140335" algn="l"/>
              </a:tabLst>
            </a:pPr>
            <a:r>
              <a:rPr dirty="0"/>
              <a:t>Python</a:t>
            </a:r>
            <a:r>
              <a:rPr spc="-25" dirty="0"/>
              <a:t> </a:t>
            </a:r>
            <a:r>
              <a:rPr dirty="0"/>
              <a:t>Coding</a:t>
            </a:r>
            <a:r>
              <a:rPr spc="-25" dirty="0"/>
              <a:t> </a:t>
            </a:r>
            <a:r>
              <a:rPr dirty="0"/>
              <a:t>–</a:t>
            </a:r>
            <a:r>
              <a:rPr spc="-25" dirty="0"/>
              <a:t> </a:t>
            </a:r>
            <a:r>
              <a:rPr dirty="0"/>
              <a:t>Implemented</a:t>
            </a:r>
            <a:r>
              <a:rPr spc="-25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game</a:t>
            </a:r>
            <a:r>
              <a:rPr spc="-25" dirty="0"/>
              <a:t> </a:t>
            </a:r>
            <a:r>
              <a:rPr dirty="0"/>
              <a:t>board</a:t>
            </a:r>
            <a:r>
              <a:rPr spc="-2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dirty="0"/>
              <a:t>core</a:t>
            </a:r>
            <a:r>
              <a:rPr spc="-20" dirty="0"/>
              <a:t> </a:t>
            </a:r>
            <a:r>
              <a:rPr dirty="0"/>
              <a:t>game</a:t>
            </a:r>
            <a:r>
              <a:rPr spc="-25" dirty="0"/>
              <a:t> </a:t>
            </a:r>
            <a:r>
              <a:rPr dirty="0"/>
              <a:t>logic</a:t>
            </a:r>
            <a:r>
              <a:rPr spc="-25" dirty="0"/>
              <a:t> in </a:t>
            </a:r>
            <a:r>
              <a:rPr spc="-10" dirty="0"/>
              <a:t>Python.</a:t>
            </a:r>
          </a:p>
          <a:p>
            <a:pPr marL="12700" marR="412115" indent="127635">
              <a:lnSpc>
                <a:spcPct val="100000"/>
              </a:lnSpc>
              <a:spcBef>
                <a:spcPts val="700"/>
              </a:spcBef>
              <a:buChar char="•"/>
              <a:tabLst>
                <a:tab pos="140335" algn="l"/>
              </a:tabLst>
            </a:pPr>
            <a:r>
              <a:rPr dirty="0"/>
              <a:t>Testing</a:t>
            </a:r>
            <a:r>
              <a:rPr spc="-35" dirty="0"/>
              <a:t> </a:t>
            </a:r>
            <a:r>
              <a:rPr dirty="0"/>
              <a:t>–</a:t>
            </a:r>
            <a:r>
              <a:rPr spc="-30" dirty="0"/>
              <a:t> </a:t>
            </a:r>
            <a:r>
              <a:rPr dirty="0"/>
              <a:t>Tested</a:t>
            </a:r>
            <a:r>
              <a:rPr spc="-30" dirty="0"/>
              <a:t> </a:t>
            </a:r>
            <a:r>
              <a:rPr dirty="0"/>
              <a:t>winning</a:t>
            </a:r>
            <a:r>
              <a:rPr spc="-30" dirty="0"/>
              <a:t> </a:t>
            </a:r>
            <a:r>
              <a:rPr dirty="0"/>
              <a:t>combinations,</a:t>
            </a:r>
            <a:r>
              <a:rPr spc="-35" dirty="0"/>
              <a:t> </a:t>
            </a:r>
            <a:r>
              <a:rPr dirty="0"/>
              <a:t>draw</a:t>
            </a:r>
            <a:r>
              <a:rPr spc="-30" dirty="0"/>
              <a:t> </a:t>
            </a:r>
            <a:r>
              <a:rPr dirty="0"/>
              <a:t>condition</a:t>
            </a:r>
            <a:r>
              <a:rPr spc="-3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invalid inputs.</a:t>
            </a:r>
          </a:p>
          <a:p>
            <a:pPr marL="12700" marR="5080" indent="127635">
              <a:lnSpc>
                <a:spcPct val="100000"/>
              </a:lnSpc>
              <a:spcBef>
                <a:spcPts val="700"/>
              </a:spcBef>
              <a:buChar char="•"/>
              <a:tabLst>
                <a:tab pos="140335" algn="l"/>
              </a:tabLst>
            </a:pPr>
            <a:r>
              <a:rPr dirty="0"/>
              <a:t>GitHub</a:t>
            </a:r>
            <a:r>
              <a:rPr spc="-40" dirty="0"/>
              <a:t> </a:t>
            </a:r>
            <a:r>
              <a:rPr dirty="0"/>
              <a:t>Contribution</a:t>
            </a:r>
            <a:r>
              <a:rPr spc="-40" dirty="0"/>
              <a:t> </a:t>
            </a:r>
            <a:r>
              <a:rPr dirty="0"/>
              <a:t>–</a:t>
            </a:r>
            <a:r>
              <a:rPr spc="-35" dirty="0"/>
              <a:t> </a:t>
            </a:r>
            <a:r>
              <a:rPr dirty="0"/>
              <a:t>Created/managed</a:t>
            </a:r>
            <a:r>
              <a:rPr spc="-40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spc="-10" dirty="0"/>
              <a:t>repository,</a:t>
            </a:r>
            <a:r>
              <a:rPr spc="-35" dirty="0"/>
              <a:t> </a:t>
            </a:r>
            <a:r>
              <a:rPr dirty="0"/>
              <a:t>uploaded</a:t>
            </a:r>
            <a:r>
              <a:rPr spc="-40" dirty="0"/>
              <a:t> </a:t>
            </a:r>
            <a:r>
              <a:rPr spc="-20" dirty="0"/>
              <a:t>code </a:t>
            </a:r>
            <a:r>
              <a:rPr dirty="0"/>
              <a:t>and</a:t>
            </a:r>
            <a:r>
              <a:rPr spc="-40" dirty="0"/>
              <a:t> </a:t>
            </a:r>
            <a:r>
              <a:rPr dirty="0"/>
              <a:t>made</a:t>
            </a:r>
            <a:r>
              <a:rPr spc="-30" dirty="0"/>
              <a:t> </a:t>
            </a:r>
            <a:r>
              <a:rPr dirty="0"/>
              <a:t>meaningful</a:t>
            </a:r>
            <a:r>
              <a:rPr spc="-25" dirty="0"/>
              <a:t> </a:t>
            </a:r>
            <a:r>
              <a:rPr spc="-10" dirty="0"/>
              <a:t>commits.</a:t>
            </a:r>
          </a:p>
          <a:p>
            <a:pPr marL="12700" marR="222885" indent="127635">
              <a:lnSpc>
                <a:spcPct val="100000"/>
              </a:lnSpc>
              <a:spcBef>
                <a:spcPts val="700"/>
              </a:spcBef>
              <a:buChar char="•"/>
              <a:tabLst>
                <a:tab pos="140335" algn="l"/>
              </a:tabLst>
            </a:pPr>
            <a:r>
              <a:rPr dirty="0"/>
              <a:t>Documentation</a:t>
            </a:r>
            <a:r>
              <a:rPr spc="-35" dirty="0"/>
              <a:t> </a:t>
            </a:r>
            <a:r>
              <a:rPr dirty="0"/>
              <a:t>&amp;</a:t>
            </a:r>
            <a:r>
              <a:rPr spc="-35" dirty="0"/>
              <a:t> </a:t>
            </a:r>
            <a:r>
              <a:rPr dirty="0"/>
              <a:t>PPT</a:t>
            </a:r>
            <a:r>
              <a:rPr spc="-35" dirty="0"/>
              <a:t> </a:t>
            </a:r>
            <a:r>
              <a:rPr dirty="0"/>
              <a:t>–</a:t>
            </a:r>
            <a:r>
              <a:rPr spc="-30" dirty="0"/>
              <a:t> </a:t>
            </a:r>
            <a:r>
              <a:rPr dirty="0"/>
              <a:t>Prepared</a:t>
            </a:r>
            <a:r>
              <a:rPr spc="-35" dirty="0"/>
              <a:t> </a:t>
            </a:r>
            <a:r>
              <a:rPr dirty="0"/>
              <a:t>project</a:t>
            </a:r>
            <a:r>
              <a:rPr spc="-35" dirty="0"/>
              <a:t> </a:t>
            </a:r>
            <a:r>
              <a:rPr dirty="0"/>
              <a:t>explanation,</a:t>
            </a:r>
            <a:r>
              <a:rPr spc="-35" dirty="0"/>
              <a:t> </a:t>
            </a:r>
            <a:r>
              <a:rPr dirty="0"/>
              <a:t>flowchart</a:t>
            </a:r>
            <a:r>
              <a:rPr spc="-30" dirty="0"/>
              <a:t> </a:t>
            </a:r>
            <a:r>
              <a:rPr spc="-25" dirty="0"/>
              <a:t>and </a:t>
            </a:r>
            <a:r>
              <a:rPr dirty="0"/>
              <a:t>presentation</a:t>
            </a:r>
            <a:r>
              <a:rPr spc="-60" dirty="0"/>
              <a:t> </a:t>
            </a:r>
            <a:r>
              <a:rPr spc="-10" dirty="0"/>
              <a:t>slides.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4140" rIns="0" bIns="0" rtlCol="0">
            <a:spAutoFit/>
          </a:bodyPr>
          <a:lstStyle/>
          <a:p>
            <a:pPr marL="97790">
              <a:lnSpc>
                <a:spcPct val="100000"/>
              </a:lnSpc>
              <a:spcBef>
                <a:spcPts val="100"/>
              </a:spcBef>
            </a:pPr>
            <a:r>
              <a:rPr dirty="0"/>
              <a:t>9.</a:t>
            </a:r>
            <a:r>
              <a:rPr spc="-25" dirty="0"/>
              <a:t> </a:t>
            </a:r>
            <a:r>
              <a:rPr dirty="0"/>
              <a:t>Result</a:t>
            </a:r>
            <a:r>
              <a:rPr spc="-20" dirty="0"/>
              <a:t> </a:t>
            </a:r>
            <a:r>
              <a:rPr dirty="0"/>
              <a:t>/</a:t>
            </a:r>
            <a:r>
              <a:rPr spc="-25" dirty="0"/>
              <a:t> </a:t>
            </a:r>
            <a:r>
              <a:rPr dirty="0"/>
              <a:t>Expected</a:t>
            </a:r>
            <a:r>
              <a:rPr spc="-20" dirty="0"/>
              <a:t> </a:t>
            </a:r>
            <a:r>
              <a:rPr spc="-10" dirty="0"/>
              <a:t>Output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740596"/>
            <a:ext cx="7772399" cy="545214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174639" y="2083862"/>
            <a:ext cx="279082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000" dirty="0">
                <a:solidFill>
                  <a:srgbClr val="0000FF"/>
                </a:solidFill>
                <a:latin typeface="Calibri"/>
                <a:cs typeface="Calibri"/>
              </a:rPr>
              <a:t>Phase -2</a:t>
            </a:r>
            <a:endParaRPr sz="5000" dirty="0">
              <a:latin typeface="Calibri"/>
              <a:cs typeface="Calibri"/>
            </a:endParaRP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08DFEB23-730A-44A0-F1B9-675F7BD195AB}"/>
              </a:ext>
            </a:extLst>
          </p:cNvPr>
          <p:cNvSpPr/>
          <p:nvPr/>
        </p:nvSpPr>
        <p:spPr>
          <a:xfrm>
            <a:off x="5562600" y="2248962"/>
            <a:ext cx="631464" cy="457200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E32766-045E-2E8A-6A97-7C352D8344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1387" y="1524000"/>
            <a:ext cx="6519545" cy="4888518"/>
          </a:xfrm>
        </p:spPr>
        <p:txBody>
          <a:bodyPr/>
          <a:lstStyle/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Ø"/>
              <a:defRPr sz="1700"/>
            </a:pPr>
            <a:r>
              <a:rPr lang="en-US" dirty="0"/>
              <a:t>The basic Tic Tac Toe game provides two-player gameplay on a 3×3 board.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Ø"/>
              <a:defRPr sz="1700"/>
            </a:pPr>
            <a:r>
              <a:rPr lang="en-US" dirty="0"/>
              <a:t>An enhanced version should provide more flexibility and a better user experience.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Ø"/>
              <a:defRPr sz="1700"/>
            </a:pPr>
            <a:r>
              <a:rPr lang="en-US" dirty="0"/>
              <a:t>Players need safe input handling so invalid and repeated moves are rejected.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Ø"/>
              <a:defRPr sz="1700"/>
            </a:pPr>
            <a:r>
              <a:rPr lang="en-US" dirty="0"/>
              <a:t>A computer mode can make the game playable without a second person.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Ø"/>
              <a:defRPr sz="1700"/>
            </a:pPr>
            <a:r>
              <a:rPr lang="en-US" dirty="0"/>
              <a:t>The game should track results across multiple rounds using a scoreboard.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Ø"/>
              <a:defRPr sz="1700"/>
            </a:pPr>
            <a:r>
              <a:rPr lang="en-US" dirty="0"/>
              <a:t>Users should be able to replay the game after a round is completed.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Ø"/>
              <a:defRPr sz="1700"/>
            </a:pPr>
            <a:r>
              <a:rPr lang="en-US" dirty="0"/>
              <a:t>Therefore, Phase 2 enhances the project with Player vs Computer mode, validation, winner/draw checking, scoreboard, replay, and modular Python functions.</a:t>
            </a:r>
          </a:p>
          <a:p>
            <a:endParaRPr lang="en-IN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1291FA3-AAD9-8177-704B-C0653C316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76454"/>
            <a:ext cx="5761894" cy="506768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1AEAE67-A08D-A0A1-4C78-2155842EFF1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28600"/>
            <a:ext cx="762000" cy="86654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7424820-B91B-B965-2D25-A1D83ABAF2A7}"/>
              </a:ext>
            </a:extLst>
          </p:cNvPr>
          <p:cNvSpPr/>
          <p:nvPr/>
        </p:nvSpPr>
        <p:spPr>
          <a:xfrm>
            <a:off x="1066800" y="276454"/>
            <a:ext cx="5867400" cy="8665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2800" dirty="0"/>
              <a:t>PROBLEM STATEMENT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336885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1C0AC-6B16-0FA0-90E8-BAC1455DF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3671" y="228600"/>
            <a:ext cx="6256020" cy="6858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131319-E74F-C714-EA46-4CE6ABD068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400" y="1456665"/>
            <a:ext cx="6519545" cy="3944670"/>
          </a:xfrm>
        </p:spPr>
        <p:txBody>
          <a:bodyPr/>
          <a:lstStyle/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Ø"/>
              <a:defRPr sz="1700"/>
            </a:pPr>
            <a:r>
              <a:rPr lang="en-US" dirty="0"/>
              <a:t>To provide Player vs Player and Player vs Computer modes.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Ø"/>
              <a:defRPr sz="1700"/>
            </a:pPr>
            <a:r>
              <a:rPr lang="en-US" dirty="0"/>
              <a:t>To validate input and prevent invalid or occupied moves.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Ø"/>
              <a:defRPr sz="1700"/>
            </a:pPr>
            <a:r>
              <a:rPr lang="en-US" dirty="0"/>
              <a:t>To develop a functional and interactive Tic Tac Toe game using Python.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Ø"/>
              <a:defRPr sz="1700"/>
            </a:pPr>
            <a:r>
              <a:rPr lang="en-US" dirty="0"/>
              <a:t>To implement automatic winner and draw detection.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Ø"/>
              <a:defRPr sz="1700"/>
            </a:pPr>
            <a:r>
              <a:rPr lang="en-US" dirty="0"/>
              <a:t>To maintain a scoreboard for multiple rounds.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Ø"/>
              <a:defRPr sz="1700"/>
            </a:pPr>
            <a:r>
              <a:rPr lang="en-US" dirty="0"/>
              <a:t>To provide a replay option after each round.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Ø"/>
              <a:defRPr sz="1700"/>
            </a:pPr>
            <a:r>
              <a:rPr lang="en-US" dirty="0"/>
              <a:t>To apply functions, lists, tuples, loops, conditional statements and exception handling.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Ø"/>
              <a:defRPr sz="1700"/>
            </a:pPr>
            <a:r>
              <a:rPr lang="en-US" dirty="0"/>
              <a:t>To practice modular programming and GitHub-based version control.</a:t>
            </a:r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1ECCC0-B684-4C06-E64E-8C11D38DD85B}"/>
              </a:ext>
            </a:extLst>
          </p:cNvPr>
          <p:cNvSpPr/>
          <p:nvPr/>
        </p:nvSpPr>
        <p:spPr>
          <a:xfrm>
            <a:off x="1223671" y="231058"/>
            <a:ext cx="6407419" cy="762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2800" dirty="0"/>
              <a:t>OBJECTIVES.</a:t>
            </a:r>
            <a:endParaRPr lang="en-IN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26A332-BE28-4A09-B7F1-2F6A24C7C3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28600"/>
            <a:ext cx="762000" cy="866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0338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D5F26C-F493-71D3-13B4-9759F84959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400" y="1427079"/>
            <a:ext cx="7543800" cy="4516521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26DFF5A-02DA-D9D2-E5C8-34CA67450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1546" y="228600"/>
            <a:ext cx="6387782" cy="8665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2800" b="0" dirty="0">
                <a:solidFill>
                  <a:schemeClr val="bg1"/>
                </a:solidFill>
              </a:rPr>
              <a:t>PYTHON  TIC-TAC-TOE GAME CODE</a:t>
            </a:r>
            <a:endParaRPr lang="en-IN" sz="2800" b="0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EC4807-8AB8-3756-186B-9C19BFF2DE6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28600"/>
            <a:ext cx="762000" cy="86654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FA161D1-CF5E-B268-CBA9-30D588066E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424693"/>
            <a:ext cx="7543799" cy="4516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6448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C6027-1D4C-21D3-BBBA-DDD556225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1546" y="276454"/>
            <a:ext cx="5717148" cy="506768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0FECA9-CACA-AA1D-7D61-9D75C42614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427079"/>
            <a:ext cx="8153400" cy="4440321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C4E600-7DB6-93E0-674E-08B8CFAC0D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28600"/>
            <a:ext cx="762000" cy="86654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5CB5F20-E93A-C33C-4723-4697A987AB97}"/>
              </a:ext>
            </a:extLst>
          </p:cNvPr>
          <p:cNvSpPr/>
          <p:nvPr/>
        </p:nvSpPr>
        <p:spPr>
          <a:xfrm>
            <a:off x="1111546" y="276454"/>
            <a:ext cx="6584654" cy="8186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2800" b="0" dirty="0">
                <a:solidFill>
                  <a:schemeClr val="bg1"/>
                </a:solidFill>
              </a:rPr>
              <a:t>PYTHON  TIC-TAC-TOE GAME CODE</a:t>
            </a:r>
            <a:endParaRPr lang="en-IN" sz="2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4CD1727-A9CD-394F-4046-FEEE3852FA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742" y="1427079"/>
            <a:ext cx="8153400" cy="444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9848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D3C8-5A89-1750-929B-22ECFE662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28600"/>
            <a:ext cx="6633210" cy="866546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3D4AD4-7900-214E-5F03-D263CD1253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427079"/>
            <a:ext cx="7772400" cy="4573671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94FF4E-D2DF-D0B4-99BF-3B03E836C3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427079"/>
            <a:ext cx="7772400" cy="45736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98995E-467B-1289-E66F-D6588751ADB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28600"/>
            <a:ext cx="762000" cy="86654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74B7738-F985-CB31-380E-4AA8ECD9D173}"/>
              </a:ext>
            </a:extLst>
          </p:cNvPr>
          <p:cNvSpPr/>
          <p:nvPr/>
        </p:nvSpPr>
        <p:spPr>
          <a:xfrm>
            <a:off x="1066800" y="228600"/>
            <a:ext cx="6629400" cy="8665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2800" b="0" dirty="0">
                <a:solidFill>
                  <a:schemeClr val="bg1"/>
                </a:solidFill>
              </a:rPr>
              <a:t>PYTHON  TIC-TAC-TOE GAME CODE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8955168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24072-6ECA-E69C-DA2A-0AABD6450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1546" y="228600"/>
            <a:ext cx="6519545" cy="866546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815FBB-D26D-29C2-6CE0-94213215EB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1427079"/>
            <a:ext cx="8382000" cy="4821321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722F2A-6B39-F9B0-FAC5-E5AEDC45856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28600"/>
            <a:ext cx="762000" cy="86654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3725218-EE68-5F56-9CA5-5E8D83933AA9}"/>
              </a:ext>
            </a:extLst>
          </p:cNvPr>
          <p:cNvSpPr/>
          <p:nvPr/>
        </p:nvSpPr>
        <p:spPr>
          <a:xfrm>
            <a:off x="1111546" y="228600"/>
            <a:ext cx="6519545" cy="8665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2800" dirty="0"/>
              <a:t>OUTPUT-PHASE-2</a:t>
            </a:r>
            <a:endParaRPr lang="en-IN" sz="28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4A0ED0E-18BA-9011-80CC-DED9333AED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427079"/>
            <a:ext cx="8458200" cy="218456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BB5B640-D24F-E573-B97C-0EECBEF653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218" y="3611646"/>
            <a:ext cx="8458199" cy="2789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2645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7A3D6-8D87-CB78-F2E0-3BA7DE4F7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28600"/>
            <a:ext cx="6432528" cy="866546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B8E034-FEA9-3F48-AE66-33E70286A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427079"/>
            <a:ext cx="8001000" cy="4821321"/>
          </a:xfrm>
        </p:spPr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8034AD-40D6-14DC-764B-B2EEE3FCDDF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28600"/>
            <a:ext cx="762000" cy="86654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447FCCE-5258-79E6-6A04-C22E84FE2E05}"/>
              </a:ext>
            </a:extLst>
          </p:cNvPr>
          <p:cNvSpPr/>
          <p:nvPr/>
        </p:nvSpPr>
        <p:spPr>
          <a:xfrm>
            <a:off x="1111546" y="228600"/>
            <a:ext cx="6356054" cy="8665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2800" dirty="0"/>
              <a:t>OUTPUT PHASE - 2</a:t>
            </a:r>
            <a:endParaRPr lang="en-IN" sz="2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74B3D31-E464-D562-88BF-19C56EEEE8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427078"/>
            <a:ext cx="8001000" cy="4897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6077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E3779-D4DA-937C-C898-9C78BB3FE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1546" y="228600"/>
            <a:ext cx="6519545" cy="7620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E2B53C-9F7E-F4F8-430A-693332EC9F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1295400"/>
            <a:ext cx="8305800" cy="5170646"/>
          </a:xfrm>
        </p:spPr>
        <p:txBody>
          <a:bodyPr/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/>
              <a:t>Lists:</a:t>
            </a:r>
            <a:r>
              <a:rPr lang="en-IN" dirty="0"/>
              <a:t> A list is used to store the 9 positions of the Tic Tac Toe board. board = [" "] * 9 creates an empty board.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/>
              <a:t>Tuples:</a:t>
            </a:r>
            <a:r>
              <a:rPr lang="en-IN" dirty="0"/>
              <a:t> Tuples are used to store all possible winning combinations of rows, columns, and diagonals.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/>
              <a:t>Functions:</a:t>
            </a:r>
            <a:r>
              <a:rPr lang="en-IN" dirty="0"/>
              <a:t> Functions such as </a:t>
            </a:r>
            <a:r>
              <a:rPr lang="en-IN" dirty="0" err="1"/>
              <a:t>display_board</a:t>
            </a:r>
            <a:r>
              <a:rPr lang="en-IN" dirty="0"/>
              <a:t>(), </a:t>
            </a:r>
            <a:r>
              <a:rPr lang="en-IN" dirty="0" err="1"/>
              <a:t>check_winner</a:t>
            </a:r>
            <a:r>
              <a:rPr lang="en-IN" dirty="0"/>
              <a:t>(), </a:t>
            </a:r>
            <a:r>
              <a:rPr lang="en-IN" dirty="0" err="1"/>
              <a:t>get_move</a:t>
            </a:r>
            <a:r>
              <a:rPr lang="en-IN" dirty="0"/>
              <a:t>(), </a:t>
            </a:r>
            <a:r>
              <a:rPr lang="en-IN" dirty="0" err="1"/>
              <a:t>computer_move</a:t>
            </a:r>
            <a:r>
              <a:rPr lang="en-IN" dirty="0"/>
              <a:t>(), and </a:t>
            </a:r>
            <a:r>
              <a:rPr lang="en-IN" dirty="0" err="1"/>
              <a:t>play_game</a:t>
            </a:r>
            <a:r>
              <a:rPr lang="en-IN" dirty="0"/>
              <a:t>() divide the program into smaller and organized tasks.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/>
              <a:t>Conditional Statements:</a:t>
            </a:r>
            <a:r>
              <a:rPr lang="en-IN" dirty="0"/>
              <a:t> if, </a:t>
            </a:r>
            <a:r>
              <a:rPr lang="en-IN" dirty="0" err="1"/>
              <a:t>elif</a:t>
            </a:r>
            <a:r>
              <a:rPr lang="en-IN" dirty="0"/>
              <a:t>, and else are used to check valid moves, determine the winner, identify a draw, and select the game mode.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/>
              <a:t>Loops:</a:t>
            </a:r>
            <a:r>
              <a:rPr lang="en-IN" dirty="0"/>
              <a:t> while loops keep the game running until a winner or draw occurs, while for loops check each winning combination.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/>
              <a:t>Exception Handling:</a:t>
            </a:r>
            <a:r>
              <a:rPr lang="en-IN" dirty="0"/>
              <a:t> try-except is used to handle invalid user input, such as entering letters instead of numbers, without crashing the program.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/>
              <a:t>Dictionary:</a:t>
            </a:r>
            <a:r>
              <a:rPr lang="en-IN" dirty="0"/>
              <a:t> A dictionary is used to maintain the scoreboard and store the number of wins for Player X, Player O, and Draws.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/>
              <a:t>Input and Output:</a:t>
            </a:r>
            <a:r>
              <a:rPr lang="en-IN" dirty="0"/>
              <a:t> input() accepts the player's choice, while print() displays the board, game messages, winner, and scoreboard.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/>
              <a:t>Computer Logic:</a:t>
            </a:r>
            <a:r>
              <a:rPr lang="en-IN" dirty="0"/>
              <a:t> The </a:t>
            </a:r>
            <a:r>
              <a:rPr lang="en-IN" dirty="0" err="1"/>
              <a:t>computer_move</a:t>
            </a:r>
            <a:r>
              <a:rPr lang="en-IN" dirty="0"/>
              <a:t>() function makes the computer play strategically by trying to win first, blocking the opponent, choosing the </a:t>
            </a:r>
            <a:r>
              <a:rPr lang="en-IN" dirty="0" err="1"/>
              <a:t>center</a:t>
            </a:r>
            <a:r>
              <a:rPr lang="en-IN" dirty="0"/>
              <a:t>, and then selecting a corner or free position.</a:t>
            </a:r>
          </a:p>
          <a:p>
            <a:pPr lvl="0"/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2A2FA1-352D-B041-1006-0291DB890C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28600"/>
            <a:ext cx="762000" cy="866546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4B235A6-7E56-E85A-1182-F9E0060D83E2}"/>
              </a:ext>
            </a:extLst>
          </p:cNvPr>
          <p:cNvSpPr/>
          <p:nvPr/>
        </p:nvSpPr>
        <p:spPr>
          <a:xfrm>
            <a:off x="1111546" y="228600"/>
            <a:ext cx="6519545" cy="762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2800" dirty="0"/>
              <a:t>UNDERSTANDING PYTHON LOGIC.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2955315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9C2B0-DB27-7293-BFBA-5DDD45479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1546" y="228600"/>
            <a:ext cx="6387782" cy="866546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9A7368-79D3-F902-1487-1E2352E323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427078"/>
            <a:ext cx="8001000" cy="4592722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07EE35-B77B-7FD0-B0F9-C6C73CD6715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28600"/>
            <a:ext cx="762000" cy="866546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B60548A-6D87-F3FE-8FA6-92402C4CCB4C}"/>
              </a:ext>
            </a:extLst>
          </p:cNvPr>
          <p:cNvSpPr/>
          <p:nvPr/>
        </p:nvSpPr>
        <p:spPr>
          <a:xfrm>
            <a:off x="1111546" y="228600"/>
            <a:ext cx="6432254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IN" spc="-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pc="-1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account,</a:t>
            </a:r>
            <a:r>
              <a:rPr lang="en-IN" spc="-4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pc="-1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repository</a:t>
            </a:r>
            <a:r>
              <a:rPr lang="en-IN" spc="-4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pc="-1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creation,</a:t>
            </a:r>
            <a:r>
              <a:rPr lang="en-IN" spc="-4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pc="-1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uploading</a:t>
            </a:r>
            <a:r>
              <a:rPr lang="en-IN" spc="-4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code,</a:t>
            </a:r>
            <a:r>
              <a:rPr lang="en-IN" spc="-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pc="-1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meaningful</a:t>
            </a:r>
            <a:r>
              <a:rPr lang="en-IN" spc="-4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pc="-1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commits, </a:t>
            </a:r>
            <a:r>
              <a:rPr lang="en-IN" spc="-2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collaboration,</a:t>
            </a:r>
            <a:r>
              <a:rPr lang="en-IN" spc="1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pc="-1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individual</a:t>
            </a:r>
            <a:r>
              <a:rPr lang="en-IN" spc="1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pc="-1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contribution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7A7A5D-DC78-677F-9F95-A041BFF134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379224"/>
            <a:ext cx="8001000" cy="4621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2218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A549A0-83AA-001F-8615-091FE98912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43200" y="2209800"/>
            <a:ext cx="3505200" cy="615553"/>
          </a:xfrm>
        </p:spPr>
        <p:txBody>
          <a:bodyPr/>
          <a:lstStyle/>
          <a:p>
            <a:r>
              <a:rPr lang="en-US" dirty="0"/>
              <a:t>      </a:t>
            </a:r>
            <a:r>
              <a:rPr lang="en-US" sz="4000" dirty="0">
                <a:solidFill>
                  <a:schemeClr val="tx2"/>
                </a:solidFill>
              </a:rPr>
              <a:t>THANK YOU</a:t>
            </a:r>
            <a:endParaRPr lang="en-IN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9434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</TotalTime>
  <Words>1255</Words>
  <Application>Microsoft Office PowerPoint</Application>
  <PresentationFormat>On-screen Show (4:3)</PresentationFormat>
  <Paragraphs>129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Arial MT</vt:lpstr>
      <vt:lpstr>Calibri</vt:lpstr>
      <vt:lpstr>Consolas</vt:lpstr>
      <vt:lpstr>Lucida Sans Unicode</vt:lpstr>
      <vt:lpstr>Times New Roman</vt:lpstr>
      <vt:lpstr>Wingdings</vt:lpstr>
      <vt:lpstr>Office Theme</vt:lpstr>
      <vt:lpstr>Experiential Learning Project Assessment-I on “Tie Tac Toe Game.”</vt:lpstr>
      <vt:lpstr>Contents</vt:lpstr>
      <vt:lpstr>1. Problem Statement</vt:lpstr>
      <vt:lpstr>2. Objective</vt:lpstr>
      <vt:lpstr>3. Algorithm</vt:lpstr>
      <vt:lpstr>4. Flowchart</vt:lpstr>
      <vt:lpstr>5. Understanding of python logic</vt:lpstr>
      <vt:lpstr>6. Graphical Representation and Working</vt:lpstr>
      <vt:lpstr>7. GitHub Account, Repository &amp; Collaboration</vt:lpstr>
      <vt:lpstr>8. Individual Contribution</vt:lpstr>
      <vt:lpstr>9. Result / Expected Output</vt:lpstr>
      <vt:lpstr>Phase -2</vt:lpstr>
      <vt:lpstr>PowerPoint Presentation</vt:lpstr>
      <vt:lpstr>PowerPoint Presentation</vt:lpstr>
      <vt:lpstr>PYTHON  TIC-TAC-TOE GAME CODE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aarushijambhulkar@outlook.com</cp:lastModifiedBy>
  <cp:revision>2</cp:revision>
  <dcterms:created xsi:type="dcterms:W3CDTF">2026-09-21T13:39:59Z</dcterms:created>
  <dcterms:modified xsi:type="dcterms:W3CDTF">2026-09-21T15:01:39Z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v10.0.20070.1</vt:lpwstr>
  </property>
  <property fmtid="{D5CDD505-2E9C-101B-9397-08002B2CF9AE}" pid="3" name="Created">
    <vt:filetime>2026-09-21T00:00:00Z</vt:filetime>
  </property>
  <property fmtid="{D5CDD505-2E9C-101B-9397-08002B2CF9AE}" pid="4" name="Creator">
    <vt:lpwstr>Google</vt:lpwstr>
  </property>
  <property fmtid="{D5CDD505-2E9C-101B-9397-08002B2CF9AE}" pid="5" name="LastSaved">
    <vt:filetime>2026-09-21T00:00:00Z</vt:filetime>
  </property>
</Properties>
</file>